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Consolas" panose="020B0609020204030204" pitchFamily="49" charset="0"/>
      <p:regular r:id="rId17"/>
      <p:bold r:id="rId18"/>
      <p:italic r:id="rId19"/>
      <p:boldItalic r:id="rId20"/>
    </p:embeddedFont>
    <p:embeddedFont>
      <p:font typeface="Marcellus" panose="020E0602050203020307" pitchFamily="34" charset="0"/>
      <p:regular r:id="rId21"/>
    </p:embeddedFont>
    <p:embeddedFont>
      <p:font typeface="Montserrat" pitchFamily="2" charset="-52"/>
      <p:regular r:id="rId22"/>
      <p:bold r:id="rId23"/>
      <p:italic r:id="rId24"/>
      <p:boldItalic r:id="rId25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FC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662" y="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95068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C8A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4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C8A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4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C8A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4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C8A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4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C8A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4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C8A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4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C8A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4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C8A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4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C8A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4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C8A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4">
              <a:alpha val="95000"/>
            </a:srgbClr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Relationship Id="rId9" Type="http://schemas.openxmlformats.org/officeDocument/2006/relationships/image" Target="../media/image10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8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3.sv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419350"/>
            <a:ext cx="7556421" cy="3390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650"/>
              </a:lnSpc>
              <a:buNone/>
            </a:pPr>
            <a:r>
              <a:rPr lang="en-US" sz="51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Веб-приложение для учета посещаемости и успеваемости студентов колледжа</a:t>
            </a:r>
            <a:endParaRPr lang="en-US" sz="5100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32AA4CE-5D61-494C-AEBD-6B818710024E}"/>
              </a:ext>
            </a:extLst>
          </p:cNvPr>
          <p:cNvSpPr/>
          <p:nvPr/>
        </p:nvSpPr>
        <p:spPr>
          <a:xfrm>
            <a:off x="12718473" y="7758545"/>
            <a:ext cx="1823258" cy="399011"/>
          </a:xfrm>
          <a:prstGeom prst="rect">
            <a:avLst/>
          </a:prstGeom>
          <a:solidFill>
            <a:srgbClr val="FDFC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703070"/>
            <a:ext cx="8459986" cy="678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1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Обзор Проекта и Основная Цель</a:t>
            </a:r>
            <a:endParaRPr lang="en-US" sz="4100" dirty="0"/>
          </a:p>
        </p:txBody>
      </p:sp>
      <p:sp>
        <p:nvSpPr>
          <p:cNvPr id="3" name="Text 1"/>
          <p:cNvSpPr/>
          <p:nvPr/>
        </p:nvSpPr>
        <p:spPr>
          <a:xfrm>
            <a:off x="793670" y="2591677"/>
            <a:ext cx="13042821" cy="126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Представляем инновационное веб-приложение, разработанное для оптимизации и автоматизации процессов учета посещаемости и успеваемости студентов колледжа. Этот проект создан как Single Page Application (SPA), обеспечивая мгновенную навигацию без перезагрузки страниц.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93790" y="3974425"/>
            <a:ext cx="4196358" cy="2552105"/>
          </a:xfrm>
          <a:prstGeom prst="roundRect">
            <a:avLst>
              <a:gd name="adj" fmla="val 5733"/>
            </a:avLst>
          </a:prstGeom>
          <a:solidFill>
            <a:schemeClr val="bg1">
              <a:alpha val="95000"/>
            </a:schemeClr>
          </a:solidFill>
          <a:ln w="30480">
            <a:solidFill>
              <a:srgbClr val="FFE0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3310" y="3974425"/>
            <a:ext cx="121920" cy="2552105"/>
          </a:xfrm>
          <a:prstGeom prst="roundRect">
            <a:avLst>
              <a:gd name="adj" fmla="val 78139"/>
            </a:avLst>
          </a:prstGeom>
          <a:solidFill>
            <a:srgbClr val="FF954F"/>
          </a:solidFill>
          <a:ln/>
        </p:spPr>
      </p:sp>
      <p:sp>
        <p:nvSpPr>
          <p:cNvPr id="6" name="Text 4"/>
          <p:cNvSpPr/>
          <p:nvPr/>
        </p:nvSpPr>
        <p:spPr>
          <a:xfrm>
            <a:off x="1142524" y="4231719"/>
            <a:ext cx="3590330" cy="1017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0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Автоматизация учета</a:t>
            </a:r>
            <a:endParaRPr lang="en-US" sz="3050" dirty="0"/>
          </a:p>
        </p:txBody>
      </p:sp>
      <p:sp>
        <p:nvSpPr>
          <p:cNvPr id="7" name="Text 5"/>
          <p:cNvSpPr/>
          <p:nvPr/>
        </p:nvSpPr>
        <p:spPr>
          <a:xfrm>
            <a:off x="1142524" y="5384840"/>
            <a:ext cx="3590330" cy="589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Эффективный учет посещаемости и оценок.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216962" y="3974425"/>
            <a:ext cx="4196358" cy="2552105"/>
          </a:xfrm>
          <a:prstGeom prst="roundRect">
            <a:avLst>
              <a:gd name="adj" fmla="val 5733"/>
            </a:avLst>
          </a:prstGeom>
          <a:solidFill>
            <a:schemeClr val="bg1">
              <a:alpha val="95000"/>
            </a:schemeClr>
          </a:solidFill>
          <a:ln w="30480">
            <a:solidFill>
              <a:srgbClr val="FFE0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86482" y="3974425"/>
            <a:ext cx="121920" cy="2552105"/>
          </a:xfrm>
          <a:prstGeom prst="roundRect">
            <a:avLst>
              <a:gd name="adj" fmla="val 78139"/>
            </a:avLst>
          </a:prstGeom>
          <a:solidFill>
            <a:srgbClr val="FF954F"/>
          </a:solidFill>
          <a:ln/>
        </p:spPr>
      </p:sp>
      <p:sp>
        <p:nvSpPr>
          <p:cNvPr id="10" name="Text 8"/>
          <p:cNvSpPr/>
          <p:nvPr/>
        </p:nvSpPr>
        <p:spPr>
          <a:xfrm>
            <a:off x="5565696" y="4231719"/>
            <a:ext cx="3590330" cy="1017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0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Удобный интерфейс</a:t>
            </a:r>
            <a:endParaRPr lang="en-US" sz="3050" dirty="0"/>
          </a:p>
        </p:txBody>
      </p:sp>
      <p:sp>
        <p:nvSpPr>
          <p:cNvPr id="11" name="Text 9"/>
          <p:cNvSpPr/>
          <p:nvPr/>
        </p:nvSpPr>
        <p:spPr>
          <a:xfrm>
            <a:off x="5565696" y="5003244"/>
            <a:ext cx="3590330" cy="884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Интуитивно понятный дизайн для преподавателей и администраторов.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9640133" y="3974425"/>
            <a:ext cx="4196358" cy="2552105"/>
          </a:xfrm>
          <a:prstGeom prst="roundRect">
            <a:avLst>
              <a:gd name="adj" fmla="val 5733"/>
            </a:avLst>
          </a:prstGeom>
          <a:solidFill>
            <a:schemeClr val="bg1">
              <a:alpha val="95000"/>
            </a:schemeClr>
          </a:solidFill>
          <a:ln w="30480">
            <a:solidFill>
              <a:srgbClr val="FFE0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9653" y="3974425"/>
            <a:ext cx="121920" cy="2552105"/>
          </a:xfrm>
          <a:prstGeom prst="roundRect">
            <a:avLst>
              <a:gd name="adj" fmla="val 78139"/>
            </a:avLst>
          </a:prstGeom>
          <a:solidFill>
            <a:srgbClr val="FF954F"/>
          </a:solidFill>
          <a:ln/>
        </p:spPr>
      </p:sp>
      <p:sp>
        <p:nvSpPr>
          <p:cNvPr id="14" name="Text 12"/>
          <p:cNvSpPr/>
          <p:nvPr/>
        </p:nvSpPr>
        <p:spPr>
          <a:xfrm>
            <a:off x="9988868" y="4231719"/>
            <a:ext cx="3590330" cy="1017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0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Быстрая навигация</a:t>
            </a:r>
            <a:endParaRPr lang="en-US" sz="3050" dirty="0"/>
          </a:p>
        </p:txBody>
      </p:sp>
      <p:sp>
        <p:nvSpPr>
          <p:cNvPr id="15" name="Text 13"/>
          <p:cNvSpPr/>
          <p:nvPr/>
        </p:nvSpPr>
        <p:spPr>
          <a:xfrm>
            <a:off x="10019348" y="4980362"/>
            <a:ext cx="3590330" cy="884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SPA архитектура для бесшовного пользовательского опыта.</a:t>
            </a:r>
            <a:endParaRPr lang="en-US" sz="2000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8041198-770F-4511-8574-9CEA774E3B40}"/>
              </a:ext>
            </a:extLst>
          </p:cNvPr>
          <p:cNvSpPr/>
          <p:nvPr/>
        </p:nvSpPr>
        <p:spPr>
          <a:xfrm>
            <a:off x="12718473" y="7758545"/>
            <a:ext cx="1823258" cy="399011"/>
          </a:xfrm>
          <a:prstGeom prst="rect">
            <a:avLst/>
          </a:prstGeom>
          <a:solidFill>
            <a:srgbClr val="FDFC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46351" y="1244203"/>
            <a:ext cx="6080165" cy="4783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750"/>
              </a:lnSpc>
              <a:buNone/>
            </a:pPr>
            <a:r>
              <a:rPr lang="en-US" sz="285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Основные Возможности Системы</a:t>
            </a:r>
            <a:endParaRPr lang="en-US" sz="2850" dirty="0"/>
          </a:p>
        </p:txBody>
      </p:sp>
      <p:sp>
        <p:nvSpPr>
          <p:cNvPr id="4" name="Text 1"/>
          <p:cNvSpPr/>
          <p:nvPr/>
        </p:nvSpPr>
        <p:spPr>
          <a:xfrm>
            <a:off x="6046351" y="1962507"/>
            <a:ext cx="8024098" cy="6530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6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Приложение предлагает широкий спектр функций, адаптированных под различные категории пользователей.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046351" y="2798326"/>
            <a:ext cx="3932039" cy="2337554"/>
          </a:xfrm>
          <a:prstGeom prst="roundRect">
            <a:avLst>
              <a:gd name="adj" fmla="val 4694"/>
            </a:avLst>
          </a:prstGeom>
          <a:solidFill>
            <a:schemeClr val="bg1">
              <a:alpha val="95000"/>
            </a:schemeClr>
          </a:solidFill>
          <a:ln/>
        </p:spPr>
      </p:sp>
      <p:sp>
        <p:nvSpPr>
          <p:cNvPr id="6" name="Shape 3"/>
          <p:cNvSpPr/>
          <p:nvPr/>
        </p:nvSpPr>
        <p:spPr>
          <a:xfrm>
            <a:off x="6046351" y="2775466"/>
            <a:ext cx="3932039" cy="91440"/>
          </a:xfrm>
          <a:prstGeom prst="roundRect">
            <a:avLst>
              <a:gd name="adj" fmla="val 73495"/>
            </a:avLst>
          </a:prstGeom>
          <a:solidFill>
            <a:srgbClr val="FF954F"/>
          </a:solidFill>
          <a:ln/>
        </p:spPr>
      </p:sp>
      <p:sp>
        <p:nvSpPr>
          <p:cNvPr id="7" name="Shape 4"/>
          <p:cNvSpPr/>
          <p:nvPr/>
        </p:nvSpPr>
        <p:spPr>
          <a:xfrm>
            <a:off x="7772340" y="2558415"/>
            <a:ext cx="479941" cy="479941"/>
          </a:xfrm>
          <a:prstGeom prst="roundRect">
            <a:avLst>
              <a:gd name="adj" fmla="val 190523"/>
            </a:avLst>
          </a:prstGeom>
          <a:solidFill>
            <a:srgbClr val="FF954F"/>
          </a:solidFill>
          <a:ln/>
        </p:spPr>
      </p:sp>
      <p:sp>
        <p:nvSpPr>
          <p:cNvPr id="8" name="Text 5"/>
          <p:cNvSpPr/>
          <p:nvPr/>
        </p:nvSpPr>
        <p:spPr>
          <a:xfrm>
            <a:off x="7916287" y="2673548"/>
            <a:ext cx="191929" cy="2495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229112" y="3198257"/>
            <a:ext cx="2747129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Для всех пользователей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29112" y="3593187"/>
            <a:ext cx="3566517" cy="416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600"/>
              </a:lnSpc>
              <a:buSzPct val="100000"/>
              <a:buChar char="•"/>
            </a:pPr>
            <a:r>
              <a:rPr lang="en-US" sz="14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Просмотр</a:t>
            </a:r>
            <a:r>
              <a:rPr lang="en-US" sz="125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списка студентов (с фильтрацией и поиском)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229112" y="4065151"/>
            <a:ext cx="3566517" cy="416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600"/>
              </a:lnSpc>
              <a:buSzPct val="100000"/>
              <a:buChar char="•"/>
            </a:pPr>
            <a:r>
              <a:rPr lang="en-US" sz="125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Просмотр </a:t>
            </a:r>
            <a:r>
              <a:rPr lang="en-US" sz="14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записей</a:t>
            </a:r>
            <a:r>
              <a:rPr lang="en-US" sz="125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о посещаемости по датам и предметам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229112" y="4537115"/>
            <a:ext cx="3566517" cy="416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600"/>
              </a:lnSpc>
              <a:buSzPct val="100000"/>
              <a:buChar char="•"/>
            </a:pPr>
            <a:r>
              <a:rPr lang="en-US" sz="14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Просмотр</a:t>
            </a:r>
            <a:r>
              <a:rPr lang="en-US" sz="125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успеваемости и статистики по оценкам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10138291" y="2798326"/>
            <a:ext cx="3932158" cy="2337554"/>
          </a:xfrm>
          <a:prstGeom prst="roundRect">
            <a:avLst>
              <a:gd name="adj" fmla="val 4694"/>
            </a:avLst>
          </a:prstGeom>
          <a:solidFill>
            <a:schemeClr val="bg1">
              <a:alpha val="95000"/>
            </a:schemeClr>
          </a:solidFill>
          <a:ln/>
        </p:spPr>
      </p:sp>
      <p:sp>
        <p:nvSpPr>
          <p:cNvPr id="14" name="Shape 11"/>
          <p:cNvSpPr/>
          <p:nvPr/>
        </p:nvSpPr>
        <p:spPr>
          <a:xfrm>
            <a:off x="10138291" y="2775466"/>
            <a:ext cx="3932158" cy="91440"/>
          </a:xfrm>
          <a:prstGeom prst="roundRect">
            <a:avLst>
              <a:gd name="adj" fmla="val 73495"/>
            </a:avLst>
          </a:prstGeom>
          <a:solidFill>
            <a:srgbClr val="FF954F"/>
          </a:solidFill>
          <a:ln/>
        </p:spPr>
      </p:sp>
      <p:sp>
        <p:nvSpPr>
          <p:cNvPr id="15" name="Shape 12"/>
          <p:cNvSpPr/>
          <p:nvPr/>
        </p:nvSpPr>
        <p:spPr>
          <a:xfrm>
            <a:off x="11864400" y="2558415"/>
            <a:ext cx="479941" cy="479941"/>
          </a:xfrm>
          <a:prstGeom prst="roundRect">
            <a:avLst>
              <a:gd name="adj" fmla="val 190523"/>
            </a:avLst>
          </a:prstGeom>
          <a:solidFill>
            <a:srgbClr val="FF954F"/>
          </a:solidFill>
          <a:ln/>
        </p:spPr>
      </p:sp>
      <p:sp>
        <p:nvSpPr>
          <p:cNvPr id="16" name="Text 13"/>
          <p:cNvSpPr/>
          <p:nvPr/>
        </p:nvSpPr>
        <p:spPr>
          <a:xfrm>
            <a:off x="12008346" y="2673548"/>
            <a:ext cx="191929" cy="2495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0321052" y="3198257"/>
            <a:ext cx="2366963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Для Преподавателей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0321052" y="3593187"/>
            <a:ext cx="3566636" cy="416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600"/>
              </a:lnSpc>
              <a:buSzPct val="100000"/>
              <a:buChar char="•"/>
            </a:pPr>
            <a:r>
              <a:rPr lang="en-US" sz="125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Редактирование и массовая отметка </a:t>
            </a:r>
            <a:r>
              <a:rPr lang="en-US" sz="14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посещаемости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321052" y="4065151"/>
            <a:ext cx="3566636" cy="416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600"/>
              </a:lnSpc>
              <a:buSzPct val="100000"/>
              <a:buChar char="•"/>
            </a:pPr>
            <a:r>
              <a:rPr lang="en-US" sz="125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Управление оценками (добавление, редактирование, удаление)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046351" y="5535692"/>
            <a:ext cx="8024098" cy="1449586"/>
          </a:xfrm>
          <a:prstGeom prst="roundRect">
            <a:avLst>
              <a:gd name="adj" fmla="val 7570"/>
            </a:avLst>
          </a:prstGeom>
          <a:solidFill>
            <a:schemeClr val="bg1">
              <a:alpha val="95000"/>
            </a:schemeClr>
          </a:solidFill>
          <a:ln/>
        </p:spPr>
      </p:sp>
      <p:sp>
        <p:nvSpPr>
          <p:cNvPr id="21" name="Shape 18"/>
          <p:cNvSpPr/>
          <p:nvPr/>
        </p:nvSpPr>
        <p:spPr>
          <a:xfrm>
            <a:off x="6046351" y="5512832"/>
            <a:ext cx="8024098" cy="91440"/>
          </a:xfrm>
          <a:prstGeom prst="roundRect">
            <a:avLst>
              <a:gd name="adj" fmla="val 73495"/>
            </a:avLst>
          </a:prstGeom>
          <a:solidFill>
            <a:srgbClr val="FF954F"/>
          </a:solidFill>
          <a:ln/>
        </p:spPr>
      </p:sp>
      <p:sp>
        <p:nvSpPr>
          <p:cNvPr id="22" name="Shape 19"/>
          <p:cNvSpPr/>
          <p:nvPr/>
        </p:nvSpPr>
        <p:spPr>
          <a:xfrm>
            <a:off x="9818430" y="5295781"/>
            <a:ext cx="479941" cy="479941"/>
          </a:xfrm>
          <a:prstGeom prst="roundRect">
            <a:avLst>
              <a:gd name="adj" fmla="val 190523"/>
            </a:avLst>
          </a:prstGeom>
          <a:solidFill>
            <a:srgbClr val="FF954F"/>
          </a:solidFill>
          <a:ln/>
        </p:spPr>
      </p:sp>
      <p:sp>
        <p:nvSpPr>
          <p:cNvPr id="23" name="Text 20"/>
          <p:cNvSpPr/>
          <p:nvPr/>
        </p:nvSpPr>
        <p:spPr>
          <a:xfrm>
            <a:off x="9962376" y="5410914"/>
            <a:ext cx="191929" cy="2495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6229112" y="5935623"/>
            <a:ext cx="2513290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Для Администраторов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229112" y="6330553"/>
            <a:ext cx="7658576" cy="208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600"/>
              </a:lnSpc>
              <a:buSzPct val="100000"/>
              <a:buChar char="•"/>
            </a:pPr>
            <a:r>
              <a:rPr lang="en-US" sz="125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Полный CRUD для студентов, групп и предметов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6229112" y="6594515"/>
            <a:ext cx="7658576" cy="208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600"/>
              </a:lnSpc>
              <a:buSzPct val="100000"/>
              <a:buChar char="•"/>
            </a:pPr>
            <a:r>
              <a:rPr lang="en-US" sz="14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Деактивация</a:t>
            </a:r>
            <a:r>
              <a:rPr lang="en-US" sz="125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записей вместо физического удаления</a:t>
            </a:r>
            <a:endParaRPr lang="en-US" sz="1250" dirty="0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7E67F43-EF4B-4C5A-B3CF-36C571FD8757}"/>
              </a:ext>
            </a:extLst>
          </p:cNvPr>
          <p:cNvSpPr/>
          <p:nvPr/>
        </p:nvSpPr>
        <p:spPr>
          <a:xfrm>
            <a:off x="12718473" y="7758545"/>
            <a:ext cx="1823258" cy="399011"/>
          </a:xfrm>
          <a:prstGeom prst="rect">
            <a:avLst/>
          </a:prstGeom>
          <a:solidFill>
            <a:srgbClr val="FDFC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76638" y="490299"/>
            <a:ext cx="6429494" cy="5330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2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Технологический Стек: Frontend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676697" y="1296233"/>
            <a:ext cx="11277005" cy="74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Наше приложение построено на современных и надежных технологиях, обеспечивающих высокую производительность и стабильность.</a:t>
            </a:r>
            <a:endParaRPr lang="en-US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76638" y="2043708"/>
            <a:ext cx="534829" cy="5348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76638" y="2801303"/>
            <a:ext cx="2562939" cy="33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React 19.2.0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676638" y="3241358"/>
            <a:ext cx="5527119" cy="463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Ведущая библиотека для создания интерактивных пользовательских интерфейсов.</a:t>
            </a:r>
            <a:endParaRPr lang="en-US" sz="16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26523" y="2043708"/>
            <a:ext cx="534829" cy="53482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26523" y="2801303"/>
            <a:ext cx="2562939" cy="33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TypeScript 5.9.3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7426523" y="3241358"/>
            <a:ext cx="5527119" cy="463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Типизированный JavaScript для повышения надежности и </a:t>
            </a:r>
            <a:r>
              <a:rPr lang="en-US" sz="16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поддерживаемости</a:t>
            </a:r>
            <a:r>
              <a:rPr lang="en-US" sz="14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кода.</a:t>
            </a:r>
            <a:endParaRPr lang="en-US" sz="14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76638" y="4061222"/>
            <a:ext cx="534829" cy="534829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676638" y="4818817"/>
            <a:ext cx="2887147" cy="33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Vite (rolldown-vite 7.3.0)</a:t>
            </a:r>
            <a:endParaRPr lang="en-US" sz="2000" dirty="0"/>
          </a:p>
        </p:txBody>
      </p:sp>
      <p:sp>
        <p:nvSpPr>
          <p:cNvPr id="12" name="Text 7"/>
          <p:cNvSpPr/>
          <p:nvPr/>
        </p:nvSpPr>
        <p:spPr>
          <a:xfrm>
            <a:off x="1676638" y="5258872"/>
            <a:ext cx="5527119" cy="463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Быстрый инструмент сборки нового поколения для моментальной разработки.</a:t>
            </a:r>
            <a:endParaRPr lang="en-US" sz="14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26523" y="4061222"/>
            <a:ext cx="534829" cy="53482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426523" y="4818817"/>
            <a:ext cx="2562939" cy="33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MobX 6.15.0</a:t>
            </a:r>
            <a:endParaRPr lang="en-US" sz="2000" dirty="0"/>
          </a:p>
        </p:txBody>
      </p:sp>
      <p:sp>
        <p:nvSpPr>
          <p:cNvPr id="15" name="Text 9"/>
          <p:cNvSpPr/>
          <p:nvPr/>
        </p:nvSpPr>
        <p:spPr>
          <a:xfrm>
            <a:off x="7426523" y="5258872"/>
            <a:ext cx="5527119" cy="463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Простая</a:t>
            </a:r>
            <a:r>
              <a:rPr lang="en-US" sz="14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масштабируемая библиотека для управления состоянием приложения.</a:t>
            </a:r>
            <a:endParaRPr lang="en-US" sz="14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676638" y="6078736"/>
            <a:ext cx="534829" cy="534829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676638" y="6836331"/>
            <a:ext cx="2562939" cy="33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SCSS/SASS 1.97.1</a:t>
            </a:r>
            <a:endParaRPr lang="en-US" sz="2000" dirty="0"/>
          </a:p>
        </p:txBody>
      </p:sp>
      <p:sp>
        <p:nvSpPr>
          <p:cNvPr id="18" name="Text 11"/>
          <p:cNvSpPr/>
          <p:nvPr/>
        </p:nvSpPr>
        <p:spPr>
          <a:xfrm>
            <a:off x="1676638" y="7276386"/>
            <a:ext cx="5527119" cy="463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Мощный препроцессор CSS для модульной и гибкой стилизации.</a:t>
            </a:r>
            <a:endParaRPr lang="en-US" sz="14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26523" y="6078736"/>
            <a:ext cx="534829" cy="534829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7426523" y="6836331"/>
            <a:ext cx="2562939" cy="3331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Firebase 12.7.0</a:t>
            </a:r>
            <a:endParaRPr lang="en-US" sz="2000" dirty="0"/>
          </a:p>
        </p:txBody>
      </p:sp>
      <p:sp>
        <p:nvSpPr>
          <p:cNvPr id="21" name="Text 13"/>
          <p:cNvSpPr/>
          <p:nvPr/>
        </p:nvSpPr>
        <p:spPr>
          <a:xfrm>
            <a:off x="7426523" y="7276386"/>
            <a:ext cx="5527119" cy="463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Гибкая </a:t>
            </a:r>
            <a:r>
              <a:rPr lang="en-US" sz="16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r>
              <a:rPr lang="en-US" sz="14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данных в реальном времени для быстрого хранения и синхронизации данных.</a:t>
            </a:r>
            <a:endParaRPr lang="en-US" sz="1400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9D971FFC-10ED-43D5-BD61-854EFF5FC562}"/>
              </a:ext>
            </a:extLst>
          </p:cNvPr>
          <p:cNvSpPr/>
          <p:nvPr/>
        </p:nvSpPr>
        <p:spPr>
          <a:xfrm>
            <a:off x="12718473" y="7758545"/>
            <a:ext cx="1823258" cy="399011"/>
          </a:xfrm>
          <a:prstGeom prst="rect">
            <a:avLst/>
          </a:prstGeom>
          <a:solidFill>
            <a:srgbClr val="FDFC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9657" y="460534"/>
            <a:ext cx="6191845" cy="5006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0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Архитектура Проекта: SRC-Папка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2019657" y="1229558"/>
            <a:ext cx="10590967" cy="572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проекта четко организована для облегчения разработки и масштабирования. SRC-папка содержит все ключевые модули приложения.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7303651" y="1919407"/>
            <a:ext cx="22860" cy="5849541"/>
          </a:xfrm>
          <a:prstGeom prst="roundRect">
            <a:avLst>
              <a:gd name="adj" fmla="val 307644"/>
            </a:avLst>
          </a:prstGeom>
          <a:solidFill>
            <a:srgbClr val="FFE0CC"/>
          </a:solidFill>
          <a:ln/>
        </p:spPr>
      </p:sp>
      <p:sp>
        <p:nvSpPr>
          <p:cNvPr id="5" name="Shape 3"/>
          <p:cNvSpPr/>
          <p:nvPr/>
        </p:nvSpPr>
        <p:spPr>
          <a:xfrm>
            <a:off x="7003137" y="2096333"/>
            <a:ext cx="334804" cy="22860"/>
          </a:xfrm>
          <a:prstGeom prst="roundRect">
            <a:avLst>
              <a:gd name="adj" fmla="val 307644"/>
            </a:avLst>
          </a:prstGeom>
          <a:solidFill>
            <a:srgbClr val="FFE0CC"/>
          </a:solidFill>
          <a:ln/>
        </p:spPr>
      </p:sp>
      <p:sp>
        <p:nvSpPr>
          <p:cNvPr id="6" name="Shape 4"/>
          <p:cNvSpPr/>
          <p:nvPr/>
        </p:nvSpPr>
        <p:spPr>
          <a:xfrm>
            <a:off x="7252335" y="2045018"/>
            <a:ext cx="125492" cy="125492"/>
          </a:xfrm>
          <a:prstGeom prst="roundRect">
            <a:avLst>
              <a:gd name="adj" fmla="val 364326"/>
            </a:avLst>
          </a:prstGeom>
          <a:solidFill>
            <a:srgbClr val="FF954F"/>
          </a:solidFill>
          <a:ln/>
        </p:spPr>
      </p:sp>
      <p:sp>
        <p:nvSpPr>
          <p:cNvPr id="7" name="Text 5"/>
          <p:cNvSpPr/>
          <p:nvPr/>
        </p:nvSpPr>
        <p:spPr>
          <a:xfrm>
            <a:off x="4238387" y="1971675"/>
            <a:ext cx="2406968" cy="31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450"/>
              </a:lnSpc>
              <a:buNone/>
            </a:pPr>
            <a:r>
              <a:rPr lang="en-US" sz="24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Компоненты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019657" y="2384941"/>
            <a:ext cx="4625697" cy="2175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700"/>
              </a:lnSpc>
              <a:buNone/>
            </a:pP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Переиспользуемые UI элементы и макеты.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7292221" y="3100864"/>
            <a:ext cx="334804" cy="22860"/>
          </a:xfrm>
          <a:prstGeom prst="roundRect">
            <a:avLst>
              <a:gd name="adj" fmla="val 307644"/>
            </a:avLst>
          </a:prstGeom>
          <a:solidFill>
            <a:srgbClr val="FFE0CC"/>
          </a:solidFill>
          <a:ln/>
        </p:spPr>
      </p:sp>
      <p:sp>
        <p:nvSpPr>
          <p:cNvPr id="10" name="Shape 8"/>
          <p:cNvSpPr/>
          <p:nvPr/>
        </p:nvSpPr>
        <p:spPr>
          <a:xfrm>
            <a:off x="7252335" y="3049548"/>
            <a:ext cx="125492" cy="125492"/>
          </a:xfrm>
          <a:prstGeom prst="roundRect">
            <a:avLst>
              <a:gd name="adj" fmla="val 364326"/>
            </a:avLst>
          </a:prstGeom>
          <a:solidFill>
            <a:srgbClr val="FF954F"/>
          </a:solidFill>
          <a:ln/>
        </p:spPr>
      </p:sp>
      <p:sp>
        <p:nvSpPr>
          <p:cNvPr id="11" name="Text 9"/>
          <p:cNvSpPr/>
          <p:nvPr/>
        </p:nvSpPr>
        <p:spPr>
          <a:xfrm>
            <a:off x="7984808" y="2976205"/>
            <a:ext cx="2406968" cy="31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4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Страницы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984808" y="3389471"/>
            <a:ext cx="4625816" cy="435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Основные разделы приложения (главная, студенты, посещаемость).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7003137" y="3964067"/>
            <a:ext cx="334804" cy="22860"/>
          </a:xfrm>
          <a:prstGeom prst="roundRect">
            <a:avLst>
              <a:gd name="adj" fmla="val 307644"/>
            </a:avLst>
          </a:prstGeom>
          <a:solidFill>
            <a:srgbClr val="FFE0CC"/>
          </a:solidFill>
          <a:ln/>
        </p:spPr>
      </p:sp>
      <p:sp>
        <p:nvSpPr>
          <p:cNvPr id="14" name="Shape 12"/>
          <p:cNvSpPr/>
          <p:nvPr/>
        </p:nvSpPr>
        <p:spPr>
          <a:xfrm>
            <a:off x="7252335" y="3912751"/>
            <a:ext cx="125492" cy="125492"/>
          </a:xfrm>
          <a:prstGeom prst="roundRect">
            <a:avLst>
              <a:gd name="adj" fmla="val 364326"/>
            </a:avLst>
          </a:prstGeom>
          <a:solidFill>
            <a:srgbClr val="FF954F"/>
          </a:solidFill>
          <a:ln/>
        </p:spPr>
      </p:sp>
      <p:sp>
        <p:nvSpPr>
          <p:cNvPr id="15" name="Text 13"/>
          <p:cNvSpPr/>
          <p:nvPr/>
        </p:nvSpPr>
        <p:spPr>
          <a:xfrm>
            <a:off x="4238387" y="3839408"/>
            <a:ext cx="2406968" cy="31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450"/>
              </a:lnSpc>
              <a:buNone/>
            </a:pPr>
            <a:r>
              <a:rPr lang="en-US" sz="24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Store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019657" y="4252674"/>
            <a:ext cx="4625697" cy="2175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700"/>
              </a:lnSpc>
              <a:buNone/>
            </a:pP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Управление состоянием (Auth, Data, Navigation, UI).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7292221" y="4827389"/>
            <a:ext cx="334804" cy="22860"/>
          </a:xfrm>
          <a:prstGeom prst="roundRect">
            <a:avLst>
              <a:gd name="adj" fmla="val 307644"/>
            </a:avLst>
          </a:prstGeom>
          <a:solidFill>
            <a:srgbClr val="FFE0CC"/>
          </a:solidFill>
          <a:ln/>
        </p:spPr>
      </p:sp>
      <p:sp>
        <p:nvSpPr>
          <p:cNvPr id="18" name="Shape 16"/>
          <p:cNvSpPr/>
          <p:nvPr/>
        </p:nvSpPr>
        <p:spPr>
          <a:xfrm>
            <a:off x="7252335" y="4776073"/>
            <a:ext cx="125492" cy="125492"/>
          </a:xfrm>
          <a:prstGeom prst="roundRect">
            <a:avLst>
              <a:gd name="adj" fmla="val 364326"/>
            </a:avLst>
          </a:prstGeom>
          <a:solidFill>
            <a:srgbClr val="FF954F"/>
          </a:solidFill>
          <a:ln/>
        </p:spPr>
      </p:sp>
      <p:sp>
        <p:nvSpPr>
          <p:cNvPr id="19" name="Text 17"/>
          <p:cNvSpPr/>
          <p:nvPr/>
        </p:nvSpPr>
        <p:spPr>
          <a:xfrm>
            <a:off x="7984808" y="4702731"/>
            <a:ext cx="2406968" cy="31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4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Types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984808" y="5115997"/>
            <a:ext cx="4625816" cy="2175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Определения</a:t>
            </a:r>
            <a:r>
              <a:rPr lang="en-US" sz="13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 TypeScript типов и интерфейсов.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003137" y="5690711"/>
            <a:ext cx="334804" cy="22860"/>
          </a:xfrm>
          <a:prstGeom prst="roundRect">
            <a:avLst>
              <a:gd name="adj" fmla="val 307644"/>
            </a:avLst>
          </a:prstGeom>
          <a:solidFill>
            <a:srgbClr val="FFE0CC"/>
          </a:solidFill>
          <a:ln/>
        </p:spPr>
      </p:sp>
      <p:sp>
        <p:nvSpPr>
          <p:cNvPr id="22" name="Shape 20"/>
          <p:cNvSpPr/>
          <p:nvPr/>
        </p:nvSpPr>
        <p:spPr>
          <a:xfrm>
            <a:off x="7252335" y="5639395"/>
            <a:ext cx="125492" cy="125492"/>
          </a:xfrm>
          <a:prstGeom prst="roundRect">
            <a:avLst>
              <a:gd name="adj" fmla="val 364326"/>
            </a:avLst>
          </a:prstGeom>
          <a:solidFill>
            <a:srgbClr val="FF954F"/>
          </a:solidFill>
          <a:ln/>
        </p:spPr>
      </p:sp>
      <p:sp>
        <p:nvSpPr>
          <p:cNvPr id="23" name="Text 21"/>
          <p:cNvSpPr/>
          <p:nvPr/>
        </p:nvSpPr>
        <p:spPr>
          <a:xfrm>
            <a:off x="4238387" y="5566053"/>
            <a:ext cx="2406968" cy="31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450"/>
              </a:lnSpc>
              <a:buNone/>
            </a:pPr>
            <a:r>
              <a:rPr lang="en-US" sz="24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Стили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2019657" y="5979319"/>
            <a:ext cx="4625697" cy="2175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700"/>
              </a:lnSpc>
              <a:buNone/>
            </a:pP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Глобальные стили и модульные SCSS-файлы.</a:t>
            </a: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7292221" y="6554033"/>
            <a:ext cx="334804" cy="22860"/>
          </a:xfrm>
          <a:prstGeom prst="roundRect">
            <a:avLst>
              <a:gd name="adj" fmla="val 307644"/>
            </a:avLst>
          </a:prstGeom>
          <a:solidFill>
            <a:srgbClr val="FFE0CC"/>
          </a:solidFill>
          <a:ln/>
        </p:spPr>
      </p:sp>
      <p:sp>
        <p:nvSpPr>
          <p:cNvPr id="26" name="Shape 24"/>
          <p:cNvSpPr/>
          <p:nvPr/>
        </p:nvSpPr>
        <p:spPr>
          <a:xfrm>
            <a:off x="7252335" y="6502718"/>
            <a:ext cx="125492" cy="125492"/>
          </a:xfrm>
          <a:prstGeom prst="roundRect">
            <a:avLst>
              <a:gd name="adj" fmla="val 364326"/>
            </a:avLst>
          </a:prstGeom>
          <a:solidFill>
            <a:srgbClr val="FF954F"/>
          </a:solidFill>
          <a:ln/>
        </p:spPr>
      </p:sp>
      <p:sp>
        <p:nvSpPr>
          <p:cNvPr id="27" name="Text 25"/>
          <p:cNvSpPr/>
          <p:nvPr/>
        </p:nvSpPr>
        <p:spPr>
          <a:xfrm>
            <a:off x="7984808" y="6429375"/>
            <a:ext cx="2406968" cy="31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24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Хуки &amp; Утилиты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7984808" y="6842641"/>
            <a:ext cx="4625816" cy="2175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Кастомные React хуки и вспомогательные функции.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38B1EB7E-309B-4C5D-AD4F-136920761992}"/>
              </a:ext>
            </a:extLst>
          </p:cNvPr>
          <p:cNvSpPr/>
          <p:nvPr/>
        </p:nvSpPr>
        <p:spPr>
          <a:xfrm>
            <a:off x="12718473" y="7758545"/>
            <a:ext cx="1823258" cy="399011"/>
          </a:xfrm>
          <a:prstGeom prst="rect">
            <a:avLst/>
          </a:prstGeom>
          <a:solidFill>
            <a:srgbClr val="FDFC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203008"/>
            <a:ext cx="7957423" cy="678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1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Система Ролей и Прав Доступа</a:t>
            </a:r>
            <a:endParaRPr lang="en-US" sz="4100" dirty="0"/>
          </a:p>
        </p:txBody>
      </p:sp>
      <p:sp>
        <p:nvSpPr>
          <p:cNvPr id="3" name="Text 1"/>
          <p:cNvSpPr/>
          <p:nvPr/>
        </p:nvSpPr>
        <p:spPr>
          <a:xfrm>
            <a:off x="793790" y="2334816"/>
            <a:ext cx="13042821" cy="589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Приложение имеет гибкую систему ролей, которая обеспечивает разграничение доступа к функционалу на основе учетных данных пользователя.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93790" y="3179564"/>
            <a:ext cx="4196358" cy="680442"/>
          </a:xfrm>
          <a:prstGeom prst="roundRect">
            <a:avLst>
              <a:gd name="adj" fmla="val 480029"/>
            </a:avLst>
          </a:prstGeom>
          <a:solidFill>
            <a:schemeClr val="bg1"/>
          </a:solidFill>
          <a:ln w="22860">
            <a:solidFill>
              <a:srgbClr val="FFE0CC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21888" y="3349585"/>
            <a:ext cx="340162" cy="3401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0604" y="4086820"/>
            <a:ext cx="3260646" cy="423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55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Гость (user)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1020604" y="4646771"/>
            <a:ext cx="3742730" cy="1179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75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Просмотр списков студентов, посещаемости и успеваемости без возможности редактирования.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5216962" y="3179564"/>
            <a:ext cx="4196358" cy="680442"/>
          </a:xfrm>
          <a:prstGeom prst="roundRect">
            <a:avLst>
              <a:gd name="adj" fmla="val 480029"/>
            </a:avLst>
          </a:prstGeom>
          <a:solidFill>
            <a:schemeClr val="bg1"/>
          </a:solidFill>
          <a:ln w="22860">
            <a:solidFill>
              <a:srgbClr val="FFE0CC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5060" y="3349585"/>
            <a:ext cx="340162" cy="34016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3776" y="4086820"/>
            <a:ext cx="374273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55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Преподаватель (teacher)</a:t>
            </a:r>
            <a:endParaRPr lang="en-US" sz="2550" dirty="0"/>
          </a:p>
        </p:txBody>
      </p:sp>
      <p:sp>
        <p:nvSpPr>
          <p:cNvPr id="11" name="Text 7"/>
          <p:cNvSpPr/>
          <p:nvPr/>
        </p:nvSpPr>
        <p:spPr>
          <a:xfrm>
            <a:off x="5388358" y="4706302"/>
            <a:ext cx="3742730" cy="1179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75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Дополнительно к гостю: редактирование посещаемости и управление оценками.</a:t>
            </a:r>
            <a:endParaRPr lang="en-US" sz="1750" dirty="0"/>
          </a:p>
        </p:txBody>
      </p:sp>
      <p:sp>
        <p:nvSpPr>
          <p:cNvPr id="12" name="Shape 8"/>
          <p:cNvSpPr/>
          <p:nvPr/>
        </p:nvSpPr>
        <p:spPr>
          <a:xfrm>
            <a:off x="9640133" y="3179564"/>
            <a:ext cx="4196358" cy="680442"/>
          </a:xfrm>
          <a:prstGeom prst="roundRect">
            <a:avLst>
              <a:gd name="adj" fmla="val 480029"/>
            </a:avLst>
          </a:prstGeom>
          <a:solidFill>
            <a:schemeClr val="bg1"/>
          </a:solidFill>
          <a:ln w="22860">
            <a:solidFill>
              <a:srgbClr val="FFE0CC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568232" y="3349585"/>
            <a:ext cx="340162" cy="34016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866948" y="4086820"/>
            <a:ext cx="3703796" cy="423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55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Администратор (admin)</a:t>
            </a:r>
            <a:endParaRPr lang="en-US" sz="2550" dirty="0"/>
          </a:p>
        </p:txBody>
      </p:sp>
      <p:sp>
        <p:nvSpPr>
          <p:cNvPr id="15" name="Text 10"/>
          <p:cNvSpPr/>
          <p:nvPr/>
        </p:nvSpPr>
        <p:spPr>
          <a:xfrm>
            <a:off x="9866948" y="4646771"/>
            <a:ext cx="3742730" cy="147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75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Полный контроль: все права преподавателя плюс управление студентами, группами и предметами (CRUD операции).</a:t>
            </a:r>
            <a:endParaRPr lang="en-US" sz="1750" dirty="0"/>
          </a:p>
        </p:txBody>
      </p:sp>
      <p:sp>
        <p:nvSpPr>
          <p:cNvPr id="16" name="Text 11"/>
          <p:cNvSpPr/>
          <p:nvPr/>
        </p:nvSpPr>
        <p:spPr>
          <a:xfrm>
            <a:off x="793790" y="6731794"/>
            <a:ext cx="13042821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Авторизация пользователя определяет доступные ему функции, обеспечивая безопасность и порядок.</a:t>
            </a:r>
            <a:endParaRPr lang="en-US" sz="2000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8CE2AB7-3FB2-4847-925E-DA58DC13CDC9}"/>
              </a:ext>
            </a:extLst>
          </p:cNvPr>
          <p:cNvSpPr/>
          <p:nvPr/>
        </p:nvSpPr>
        <p:spPr>
          <a:xfrm>
            <a:off x="12718473" y="7758545"/>
            <a:ext cx="1823258" cy="399011"/>
          </a:xfrm>
          <a:prstGeom prst="rect">
            <a:avLst/>
          </a:prstGeom>
          <a:solidFill>
            <a:srgbClr val="FDFC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0466" y="560308"/>
            <a:ext cx="9246989" cy="6093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50"/>
              </a:lnSpc>
              <a:buNone/>
            </a:pPr>
            <a:r>
              <a:rPr lang="en-US" sz="365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Структура Данных: Ключевые Сущности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870466" y="1497687"/>
            <a:ext cx="12889468" cy="60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20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обеспечения целостности и эффективного хранения информации, проект оперирует пятью основными сущностями.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70466" y="2336244"/>
            <a:ext cx="4160639" cy="2565797"/>
          </a:xfrm>
          <a:prstGeom prst="roundRect">
            <a:avLst>
              <a:gd name="adj" fmla="val 3336"/>
            </a:avLst>
          </a:prstGeom>
          <a:solidFill>
            <a:schemeClr val="bg1"/>
          </a:solidFill>
          <a:ln w="22860">
            <a:solidFill>
              <a:srgbClr val="FFE0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042" y="2562820"/>
            <a:ext cx="611267" cy="611267"/>
          </a:xfrm>
          <a:prstGeom prst="roundRect">
            <a:avLst>
              <a:gd name="adj" fmla="val 14957597"/>
            </a:avLst>
          </a:prstGeom>
          <a:solidFill>
            <a:srgbClr val="FF954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65158" y="2730818"/>
            <a:ext cx="275034" cy="27503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042" y="3377803"/>
            <a:ext cx="2929414" cy="3807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23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Студент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1097042" y="3880723"/>
            <a:ext cx="3707487" cy="794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id, имя, фамилия, отчество, группа, дата рождения, email, телефон, статус активности.</a:t>
            </a: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5234821" y="2336244"/>
            <a:ext cx="4160639" cy="2565797"/>
          </a:xfrm>
          <a:prstGeom prst="roundRect">
            <a:avLst>
              <a:gd name="adj" fmla="val 3336"/>
            </a:avLst>
          </a:prstGeom>
          <a:solidFill>
            <a:schemeClr val="bg1"/>
          </a:solidFill>
          <a:ln w="22860">
            <a:solidFill>
              <a:srgbClr val="FFE0C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61397" y="2562820"/>
            <a:ext cx="611267" cy="611267"/>
          </a:xfrm>
          <a:prstGeom prst="roundRect">
            <a:avLst>
              <a:gd name="adj" fmla="val 14957597"/>
            </a:avLst>
          </a:prstGeom>
          <a:solidFill>
            <a:srgbClr val="FF954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29513" y="2730818"/>
            <a:ext cx="275034" cy="27503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61397" y="3377803"/>
            <a:ext cx="2929414" cy="3807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23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Группа</a:t>
            </a:r>
            <a:endParaRPr lang="en-US" sz="2300" dirty="0"/>
          </a:p>
        </p:txBody>
      </p:sp>
      <p:sp>
        <p:nvSpPr>
          <p:cNvPr id="13" name="Text 9"/>
          <p:cNvSpPr/>
          <p:nvPr/>
        </p:nvSpPr>
        <p:spPr>
          <a:xfrm>
            <a:off x="5461397" y="3880723"/>
            <a:ext cx="3707487" cy="52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id, название, описание, год обучения, статус активности.</a:t>
            </a:r>
            <a:endParaRPr lang="en-US" dirty="0"/>
          </a:p>
        </p:txBody>
      </p:sp>
      <p:sp>
        <p:nvSpPr>
          <p:cNvPr id="14" name="Shape 10"/>
          <p:cNvSpPr/>
          <p:nvPr/>
        </p:nvSpPr>
        <p:spPr>
          <a:xfrm>
            <a:off x="9599176" y="2336244"/>
            <a:ext cx="4160639" cy="2565797"/>
          </a:xfrm>
          <a:prstGeom prst="roundRect">
            <a:avLst>
              <a:gd name="adj" fmla="val 3336"/>
            </a:avLst>
          </a:prstGeom>
          <a:solidFill>
            <a:schemeClr val="bg1"/>
          </a:solidFill>
          <a:ln w="22860">
            <a:solidFill>
              <a:srgbClr val="FFE0C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825752" y="2562820"/>
            <a:ext cx="611267" cy="611267"/>
          </a:xfrm>
          <a:prstGeom prst="roundRect">
            <a:avLst>
              <a:gd name="adj" fmla="val 14957597"/>
            </a:avLst>
          </a:prstGeom>
          <a:solidFill>
            <a:srgbClr val="FF954F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93868" y="2730818"/>
            <a:ext cx="275034" cy="27503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825752" y="3377803"/>
            <a:ext cx="2929414" cy="3807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23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Предмет</a:t>
            </a:r>
            <a:endParaRPr lang="en-US" sz="2300" dirty="0"/>
          </a:p>
        </p:txBody>
      </p:sp>
      <p:sp>
        <p:nvSpPr>
          <p:cNvPr id="18" name="Text 13"/>
          <p:cNvSpPr/>
          <p:nvPr/>
        </p:nvSpPr>
        <p:spPr>
          <a:xfrm>
            <a:off x="9825752" y="3880723"/>
            <a:ext cx="3707487" cy="52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id, название, описание, код, статус активности.</a:t>
            </a:r>
            <a:endParaRPr lang="en-US" dirty="0"/>
          </a:p>
        </p:txBody>
      </p:sp>
      <p:sp>
        <p:nvSpPr>
          <p:cNvPr id="19" name="Shape 14"/>
          <p:cNvSpPr/>
          <p:nvPr/>
        </p:nvSpPr>
        <p:spPr>
          <a:xfrm>
            <a:off x="870466" y="5105757"/>
            <a:ext cx="6342817" cy="2565797"/>
          </a:xfrm>
          <a:prstGeom prst="roundRect">
            <a:avLst>
              <a:gd name="adj" fmla="val 3336"/>
            </a:avLst>
          </a:prstGeom>
          <a:solidFill>
            <a:schemeClr val="bg1"/>
          </a:solidFill>
          <a:ln w="22860">
            <a:solidFill>
              <a:srgbClr val="FFE0C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1097042" y="5332333"/>
            <a:ext cx="611267" cy="611267"/>
          </a:xfrm>
          <a:prstGeom prst="roundRect">
            <a:avLst>
              <a:gd name="adj" fmla="val 14957597"/>
            </a:avLst>
          </a:prstGeom>
          <a:solidFill>
            <a:srgbClr val="FF954F"/>
          </a:solidFill>
          <a:ln/>
        </p:spPr>
      </p:sp>
      <p:sp>
        <p:nvSpPr>
          <p:cNvPr id="21" name="Text 16"/>
          <p:cNvSpPr/>
          <p:nvPr/>
        </p:nvSpPr>
        <p:spPr>
          <a:xfrm>
            <a:off x="1097042" y="6147316"/>
            <a:ext cx="2929414" cy="3807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23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Посещаемость</a:t>
            </a:r>
            <a:endParaRPr lang="en-US" sz="2300" dirty="0"/>
          </a:p>
        </p:txBody>
      </p:sp>
      <p:sp>
        <p:nvSpPr>
          <p:cNvPr id="22" name="Text 17"/>
          <p:cNvSpPr/>
          <p:nvPr/>
        </p:nvSpPr>
        <p:spPr>
          <a:xfrm>
            <a:off x="1097042" y="6650236"/>
            <a:ext cx="5889665" cy="794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id, студент, предмет, дата, статус (присутствовал/отсутствовал/опоздал/уважительная причина), примечания.</a:t>
            </a:r>
            <a:endParaRPr lang="en-US" dirty="0"/>
          </a:p>
        </p:txBody>
      </p:sp>
      <p:sp>
        <p:nvSpPr>
          <p:cNvPr id="23" name="Shape 18"/>
          <p:cNvSpPr/>
          <p:nvPr/>
        </p:nvSpPr>
        <p:spPr>
          <a:xfrm>
            <a:off x="7416998" y="5105757"/>
            <a:ext cx="6342817" cy="2565797"/>
          </a:xfrm>
          <a:prstGeom prst="roundRect">
            <a:avLst>
              <a:gd name="adj" fmla="val 3336"/>
            </a:avLst>
          </a:prstGeom>
          <a:solidFill>
            <a:schemeClr val="bg1"/>
          </a:solidFill>
          <a:ln w="22860">
            <a:solidFill>
              <a:srgbClr val="FFE0CC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7643574" y="5332333"/>
            <a:ext cx="611267" cy="611267"/>
          </a:xfrm>
          <a:prstGeom prst="roundRect">
            <a:avLst>
              <a:gd name="adj" fmla="val 14957597"/>
            </a:avLst>
          </a:prstGeom>
          <a:solidFill>
            <a:srgbClr val="FF954F"/>
          </a:solidFill>
          <a:ln/>
        </p:spPr>
      </p:sp>
      <p:sp>
        <p:nvSpPr>
          <p:cNvPr id="25" name="Text 20"/>
          <p:cNvSpPr/>
          <p:nvPr/>
        </p:nvSpPr>
        <p:spPr>
          <a:xfrm>
            <a:off x="7643574" y="6147316"/>
            <a:ext cx="2929414" cy="3807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23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Оценка</a:t>
            </a:r>
            <a:endParaRPr lang="en-US" sz="2300" dirty="0"/>
          </a:p>
        </p:txBody>
      </p:sp>
      <p:sp>
        <p:nvSpPr>
          <p:cNvPr id="26" name="Text 21"/>
          <p:cNvSpPr/>
          <p:nvPr/>
        </p:nvSpPr>
        <p:spPr>
          <a:xfrm>
            <a:off x="7643574" y="6650236"/>
            <a:ext cx="5889665" cy="52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id, студент, предмет, значение, тип (экзамен, зачет), дата, примечания.</a:t>
            </a:r>
            <a:endParaRPr lang="en-US" dirty="0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8FDD98F-55F2-4E6B-90A8-0AEAD341BFBB}"/>
              </a:ext>
            </a:extLst>
          </p:cNvPr>
          <p:cNvSpPr/>
          <p:nvPr/>
        </p:nvSpPr>
        <p:spPr>
          <a:xfrm>
            <a:off x="12718473" y="7758545"/>
            <a:ext cx="1823258" cy="399011"/>
          </a:xfrm>
          <a:prstGeom prst="rect">
            <a:avLst/>
          </a:prstGeom>
          <a:solidFill>
            <a:srgbClr val="FDFC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0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748195" y="951905"/>
            <a:ext cx="6754058" cy="548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ts val="4300"/>
              </a:lnSpc>
              <a:buNone/>
            </a:pPr>
            <a:r>
              <a:rPr lang="en-US" sz="33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Руководство по Запуску Проекта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641747" y="1775103"/>
            <a:ext cx="7860506" cy="476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850"/>
              </a:lnSpc>
              <a:buNone/>
            </a:pPr>
            <a:r>
              <a:rPr lang="en-US" sz="20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успешного запуска приложения следуйте простым шагам, начиная с установки необходимых зависимостей.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641747" y="2458045"/>
            <a:ext cx="183356" cy="238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2400" dirty="0">
                <a:latin typeface="Marcellus Light" pitchFamily="34" charset="0"/>
                <a:ea typeface="Marcellus Light" pitchFamily="34" charset="-122"/>
                <a:cs typeface="Marcellus Light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41747" y="2756059"/>
            <a:ext cx="3838575" cy="22860"/>
          </a:xfrm>
          <a:prstGeom prst="rect">
            <a:avLst/>
          </a:prstGeom>
          <a:solidFill>
            <a:srgbClr val="FF954F"/>
          </a:solidFill>
          <a:ln/>
        </p:spPr>
      </p:sp>
      <p:sp>
        <p:nvSpPr>
          <p:cNvPr id="7" name="Text 4"/>
          <p:cNvSpPr/>
          <p:nvPr/>
        </p:nvSpPr>
        <p:spPr>
          <a:xfrm>
            <a:off x="641747" y="2893457"/>
            <a:ext cx="3838575" cy="685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650"/>
              </a:lnSpc>
              <a:buNone/>
            </a:pPr>
            <a:r>
              <a:rPr lang="en-US" sz="205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Предварительные требования</a:t>
            </a:r>
            <a:endParaRPr lang="en-US" sz="2050" dirty="0"/>
          </a:p>
        </p:txBody>
      </p:sp>
      <p:sp>
        <p:nvSpPr>
          <p:cNvPr id="8" name="Text 5"/>
          <p:cNvSpPr/>
          <p:nvPr/>
        </p:nvSpPr>
        <p:spPr>
          <a:xfrm>
            <a:off x="641747" y="3688794"/>
            <a:ext cx="3838575" cy="476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Убедитесь, что установлены Node.js (рекомендуется v18+) и npm.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4663678" y="2458045"/>
            <a:ext cx="183356" cy="238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2400" dirty="0">
                <a:latin typeface="Marcellus Light" pitchFamily="34" charset="0"/>
                <a:ea typeface="Marcellus Light" pitchFamily="34" charset="-122"/>
                <a:cs typeface="Marcellus Light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4663678" y="2756059"/>
            <a:ext cx="3838575" cy="22860"/>
          </a:xfrm>
          <a:prstGeom prst="rect">
            <a:avLst/>
          </a:prstGeom>
          <a:solidFill>
            <a:srgbClr val="FF954F"/>
          </a:solidFill>
          <a:ln/>
        </p:spPr>
      </p:sp>
      <p:sp>
        <p:nvSpPr>
          <p:cNvPr id="11" name="Text 8"/>
          <p:cNvSpPr/>
          <p:nvPr/>
        </p:nvSpPr>
        <p:spPr>
          <a:xfrm>
            <a:off x="4663678" y="2893457"/>
            <a:ext cx="3201233" cy="342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05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Установка зависимостей</a:t>
            </a:r>
            <a:endParaRPr lang="en-US" sz="2050" dirty="0"/>
          </a:p>
        </p:txBody>
      </p:sp>
      <p:sp>
        <p:nvSpPr>
          <p:cNvPr id="12" name="Shape 9"/>
          <p:cNvSpPr/>
          <p:nvPr/>
        </p:nvSpPr>
        <p:spPr>
          <a:xfrm>
            <a:off x="4663678" y="3442335"/>
            <a:ext cx="3838575" cy="513398"/>
          </a:xfrm>
          <a:prstGeom prst="roundRect">
            <a:avLst>
              <a:gd name="adj" fmla="val 15001"/>
            </a:avLst>
          </a:prstGeom>
          <a:solidFill>
            <a:srgbClr val="F2F2E7"/>
          </a:solidFill>
          <a:ln/>
        </p:spPr>
      </p:sp>
      <p:sp>
        <p:nvSpPr>
          <p:cNvPr id="13" name="Shape 10"/>
          <p:cNvSpPr/>
          <p:nvPr/>
        </p:nvSpPr>
        <p:spPr>
          <a:xfrm>
            <a:off x="4642485" y="3442335"/>
            <a:ext cx="3856911" cy="513398"/>
          </a:xfrm>
          <a:prstGeom prst="roundRect">
            <a:avLst>
              <a:gd name="adj" fmla="val 5357"/>
            </a:avLst>
          </a:prstGeom>
          <a:solidFill>
            <a:schemeClr val="bg1"/>
          </a:solidFill>
          <a:ln/>
        </p:spPr>
      </p:sp>
      <p:sp>
        <p:nvSpPr>
          <p:cNvPr id="14" name="Text 11"/>
          <p:cNvSpPr/>
          <p:nvPr/>
        </p:nvSpPr>
        <p:spPr>
          <a:xfrm>
            <a:off x="4837867" y="3579852"/>
            <a:ext cx="3490198" cy="238363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2400" dirty="0">
                <a:highlight>
                  <a:srgbClr val="F2F2E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4663678" y="4161949"/>
            <a:ext cx="3838575" cy="476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Выполните эту команду в корневой папке проекта.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41747" y="4959548"/>
            <a:ext cx="183356" cy="238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2400" dirty="0">
                <a:latin typeface="Marcellus Light" pitchFamily="34" charset="0"/>
                <a:ea typeface="Marcellus Light" pitchFamily="34" charset="-122"/>
                <a:cs typeface="Marcellus Light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641747" y="5257562"/>
            <a:ext cx="7860506" cy="22860"/>
          </a:xfrm>
          <a:prstGeom prst="rect">
            <a:avLst/>
          </a:prstGeom>
          <a:solidFill>
            <a:srgbClr val="FF954F"/>
          </a:solidFill>
          <a:ln/>
        </p:spPr>
      </p:sp>
      <p:sp>
        <p:nvSpPr>
          <p:cNvPr id="18" name="Text 15"/>
          <p:cNvSpPr/>
          <p:nvPr/>
        </p:nvSpPr>
        <p:spPr>
          <a:xfrm>
            <a:off x="641747" y="5394960"/>
            <a:ext cx="3630454" cy="3426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05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Запуск development сервера</a:t>
            </a:r>
            <a:endParaRPr lang="en-US" sz="2050" dirty="0"/>
          </a:p>
        </p:txBody>
      </p:sp>
      <p:sp>
        <p:nvSpPr>
          <p:cNvPr id="19" name="Shape 16"/>
          <p:cNvSpPr/>
          <p:nvPr/>
        </p:nvSpPr>
        <p:spPr>
          <a:xfrm>
            <a:off x="641747" y="5943838"/>
            <a:ext cx="7860506" cy="513398"/>
          </a:xfrm>
          <a:prstGeom prst="roundRect">
            <a:avLst>
              <a:gd name="adj" fmla="val 15001"/>
            </a:avLst>
          </a:prstGeom>
          <a:solidFill>
            <a:srgbClr val="F2F2E7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579" y="5943838"/>
            <a:ext cx="7878842" cy="513398"/>
          </a:xfrm>
          <a:prstGeom prst="roundRect">
            <a:avLst>
              <a:gd name="adj" fmla="val 5357"/>
            </a:avLst>
          </a:prstGeom>
          <a:solidFill>
            <a:schemeClr val="bg1"/>
          </a:solidFill>
          <a:ln/>
        </p:spPr>
      </p:sp>
      <p:sp>
        <p:nvSpPr>
          <p:cNvPr id="21" name="Text 18"/>
          <p:cNvSpPr/>
          <p:nvPr/>
        </p:nvSpPr>
        <p:spPr>
          <a:xfrm>
            <a:off x="815935" y="6081355"/>
            <a:ext cx="7512129" cy="238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2400" dirty="0">
                <a:highlight>
                  <a:srgbClr val="F2F2E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dev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641747" y="6663452"/>
            <a:ext cx="7860506" cy="476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Приложение будет доступно по адресу: http://localhost:5173/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0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4364" y="926663"/>
            <a:ext cx="7895273" cy="1067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200"/>
              </a:lnSpc>
              <a:buNone/>
            </a:pPr>
            <a:r>
              <a:rPr lang="en-US" sz="32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Работа с Проектом: Основные Принципы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624364" y="2261235"/>
            <a:ext cx="7895273" cy="896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20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тех, кто хочет глубже погрузиться в код или кастомизировать проект, мы предоставляем краткое руководство по навигации, работе с данными и авторизацией.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624364" y="3336012"/>
            <a:ext cx="2564725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8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Навигация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624364" y="3847743"/>
            <a:ext cx="3729990" cy="1174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 err="1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Использует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кастомную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систему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highlight>
                  <a:srgbClr val="F2F2E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NavigationStore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</a:t>
            </a:r>
            <a:r>
              <a:rPr lang="en-US" dirty="0" err="1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перехода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используйте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highlight>
                  <a:srgbClr val="F2F2E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navigationStore.navigate</a:t>
            </a:r>
            <a:r>
              <a:rPr lang="en-US" dirty="0">
                <a:highlight>
                  <a:srgbClr val="F2F2E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('page-id')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</a:t>
            </a:r>
            <a:r>
              <a:rPr lang="en-US" dirty="0" err="1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доступа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dirty="0" err="1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проверяются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автоматически.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624364" y="5614639"/>
            <a:ext cx="2564725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8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Авторизация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24364" y="5948014"/>
            <a:ext cx="3729990" cy="1429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Управляется через </a:t>
            </a:r>
            <a:r>
              <a:rPr lang="en-US" dirty="0">
                <a:highlight>
                  <a:srgbClr val="F2F2E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AuthStore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Проверяйте роли (</a:t>
            </a:r>
            <a:r>
              <a:rPr lang="en-US" dirty="0">
                <a:highlight>
                  <a:srgbClr val="F2F2E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authStore.isAdmin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) и права (</a:t>
            </a:r>
            <a:r>
              <a:rPr lang="en-US" dirty="0">
                <a:highlight>
                  <a:srgbClr val="F2F2E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authStore.canEditAttendance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). Доступны методы для входа (</a:t>
            </a:r>
            <a:r>
              <a:rPr lang="en-US" dirty="0">
                <a:highlight>
                  <a:srgbClr val="F2F2E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authStore.openLoginModal()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) и выхода (</a:t>
            </a:r>
            <a:r>
              <a:rPr lang="en-US" dirty="0">
                <a:highlight>
                  <a:srgbClr val="F2F2E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authStore.logout()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).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4797266" y="3336012"/>
            <a:ext cx="2564725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8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Работа с данными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4797266" y="3847743"/>
            <a:ext cx="372999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Все CRUD операции выполняются через </a:t>
            </a:r>
            <a:r>
              <a:rPr lang="en-US" dirty="0">
                <a:highlight>
                  <a:srgbClr val="F2F2E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DataStore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Методы начинаются с </a:t>
            </a:r>
            <a:r>
              <a:rPr lang="en-US" dirty="0">
                <a:highlight>
                  <a:srgbClr val="F2F2E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load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dirty="0">
                <a:highlight>
                  <a:srgbClr val="F2F2E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create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</a:t>
            </a:r>
            <a:r>
              <a:rPr lang="en-US" dirty="0">
                <a:highlight>
                  <a:srgbClr val="F2F2E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</a:t>
            </a:r>
            <a:r>
              <a:rPr lang="en-US" dirty="0">
                <a:highlight>
                  <a:srgbClr val="F2F2E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Поддерживается фильтрация данных.</a:t>
            </a: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4797265" y="5614639"/>
            <a:ext cx="2564725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8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Стилизация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4797266" y="5965440"/>
            <a:ext cx="3729990" cy="1414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 использует модульный подход SCSS. Глобальные стили находятся в </a:t>
            </a:r>
            <a:r>
              <a:rPr lang="en-US" dirty="0">
                <a:highlight>
                  <a:srgbClr val="F2F2E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src/styles/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модульные — в файлах </a:t>
            </a:r>
            <a:r>
              <a:rPr lang="en-US" dirty="0">
                <a:highlight>
                  <a:srgbClr val="F2F2E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.module.scss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компонентов. Цветовую палитру можно изменить в </a:t>
            </a:r>
            <a:r>
              <a:rPr lang="en-US" dirty="0">
                <a:highlight>
                  <a:srgbClr val="F2F2E7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globalColors.scss</a:t>
            </a:r>
            <a:r>
              <a:rPr lang="en-US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44034"/>
            <a:ext cx="11926133" cy="678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10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Заключение: Будущее Управление Колледжем</a:t>
            </a:r>
            <a:endParaRPr lang="en-US" sz="4100" dirty="0"/>
          </a:p>
        </p:txBody>
      </p:sp>
      <p:sp>
        <p:nvSpPr>
          <p:cNvPr id="3" name="Text 1"/>
          <p:cNvSpPr/>
          <p:nvPr/>
        </p:nvSpPr>
        <p:spPr>
          <a:xfrm>
            <a:off x="793790" y="1975842"/>
            <a:ext cx="13042821" cy="589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2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Данное веб-приложение — это значительный шаг к созданию более эффективной и прозрачной системы управления образовательным процессом в колледже.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3195995"/>
            <a:ext cx="4238863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3300"/>
              </a:lnSpc>
              <a:buNone/>
            </a:pPr>
            <a:r>
              <a:rPr lang="en-US" sz="255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Повышенная Эффективность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793790" y="4179808"/>
            <a:ext cx="4238863" cy="589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300"/>
              </a:lnSpc>
              <a:buNone/>
            </a:pPr>
            <a:r>
              <a:rPr lang="en-US" sz="20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Сокращение ручной работы и минимизация ошибок.</a:t>
            </a:r>
            <a:endParaRPr lang="en-US" sz="2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2653" y="2820591"/>
            <a:ext cx="4564975" cy="4564975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24362" y="4112300"/>
            <a:ext cx="318968" cy="3189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597628" y="3407926"/>
            <a:ext cx="3260646" cy="423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55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Прозрачность</a:t>
            </a:r>
            <a:endParaRPr lang="en-US" sz="2550" dirty="0"/>
          </a:p>
        </p:txBody>
      </p:sp>
      <p:sp>
        <p:nvSpPr>
          <p:cNvPr id="9" name="Text 5"/>
          <p:cNvSpPr/>
          <p:nvPr/>
        </p:nvSpPr>
        <p:spPr>
          <a:xfrm>
            <a:off x="9597628" y="3967877"/>
            <a:ext cx="4238982" cy="589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Легкий доступ к данным для всех уполномоченных пользователей.</a:t>
            </a:r>
            <a:endParaRPr lang="en-US" sz="20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2653" y="2820591"/>
            <a:ext cx="4564975" cy="4564975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86713" y="4112300"/>
            <a:ext cx="318968" cy="31896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597628" y="5860494"/>
            <a:ext cx="4170521" cy="423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55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Инновационное Решение</a:t>
            </a:r>
            <a:endParaRPr lang="en-US" sz="2550" dirty="0"/>
          </a:p>
        </p:txBody>
      </p:sp>
      <p:sp>
        <p:nvSpPr>
          <p:cNvPr id="13" name="Text 7"/>
          <p:cNvSpPr/>
          <p:nvPr/>
        </p:nvSpPr>
        <p:spPr>
          <a:xfrm>
            <a:off x="9597628" y="6420445"/>
            <a:ext cx="4238982" cy="589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Современные технологии для лучшего образования.</a:t>
            </a:r>
            <a:endParaRPr lang="en-US" sz="20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2653" y="2820591"/>
            <a:ext cx="4564975" cy="4564975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772007" y="5860494"/>
            <a:ext cx="3260646" cy="423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3300"/>
              </a:lnSpc>
              <a:buNone/>
            </a:pPr>
            <a:r>
              <a:rPr lang="en-US" sz="2550" dirty="0">
                <a:latin typeface="Marcellus" pitchFamily="34" charset="0"/>
                <a:ea typeface="Marcellus" pitchFamily="34" charset="-122"/>
                <a:cs typeface="Marcellus" pitchFamily="34" charset="-120"/>
              </a:rPr>
              <a:t>Масштабируемость</a:t>
            </a:r>
            <a:endParaRPr lang="en-US" sz="2550" dirty="0"/>
          </a:p>
        </p:txBody>
      </p:sp>
      <p:sp>
        <p:nvSpPr>
          <p:cNvPr id="16" name="Text 9"/>
          <p:cNvSpPr/>
          <p:nvPr/>
        </p:nvSpPr>
        <p:spPr>
          <a:xfrm>
            <a:off x="793790" y="6420445"/>
            <a:ext cx="4238863" cy="589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300"/>
              </a:lnSpc>
              <a:buNone/>
            </a:pPr>
            <a:r>
              <a:rPr lang="en-US" sz="20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Возможность дальнейшего расширения функционала.</a:t>
            </a:r>
            <a:endParaRPr lang="en-US" sz="200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32653" y="2820591"/>
            <a:ext cx="4564975" cy="4564975"/>
          </a:xfrm>
          <a:prstGeom prst="rect">
            <a:avLst/>
          </a:prstGeom>
        </p:spPr>
      </p:pic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24362" y="5774650"/>
            <a:ext cx="318968" cy="318968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421378B-E969-4946-AB49-4E9A480B69A8}"/>
              </a:ext>
            </a:extLst>
          </p:cNvPr>
          <p:cNvSpPr/>
          <p:nvPr/>
        </p:nvSpPr>
        <p:spPr>
          <a:xfrm>
            <a:off x="12718473" y="7758545"/>
            <a:ext cx="1823258" cy="399011"/>
          </a:xfrm>
          <a:prstGeom prst="rect">
            <a:avLst/>
          </a:prstGeom>
          <a:solidFill>
            <a:srgbClr val="FDFC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pic>
        <p:nvPicPr>
          <p:cNvPr id="20" name="Image 6" descr="preencoded.png">
            <a:extLst>
              <a:ext uri="{FF2B5EF4-FFF2-40B4-BE49-F238E27FC236}">
                <a16:creationId xmlns:a16="http://schemas.microsoft.com/office/drawing/2014/main" id="{687CCFC4-F14F-471A-8E14-5F4B5593F8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86713" y="5774650"/>
            <a:ext cx="318968" cy="3189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789</Words>
  <Application>Microsoft Office PowerPoint</Application>
  <PresentationFormat>Произвольный</PresentationFormat>
  <Paragraphs>116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7" baseType="lpstr">
      <vt:lpstr>Montserrat</vt:lpstr>
      <vt:lpstr>Arial</vt:lpstr>
      <vt:lpstr>Marcellus Light</vt:lpstr>
      <vt:lpstr>Consolas</vt:lpstr>
      <vt:lpstr>Calibri</vt:lpstr>
      <vt:lpstr>Marcellus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lastModifiedBy>Никита Смирнов</cp:lastModifiedBy>
  <cp:revision>6</cp:revision>
  <dcterms:created xsi:type="dcterms:W3CDTF">2026-01-06T18:43:06Z</dcterms:created>
  <dcterms:modified xsi:type="dcterms:W3CDTF">2026-06-10T09:05:15Z</dcterms:modified>
</cp:coreProperties>
</file>