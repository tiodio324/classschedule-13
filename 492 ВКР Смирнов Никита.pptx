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7" r:id="rId6"/>
    <p:sldId id="269" r:id="rId7"/>
    <p:sldId id="259" r:id="rId8"/>
    <p:sldId id="266" r:id="rId9"/>
    <p:sldId id="268" r:id="rId10"/>
    <p:sldId id="261" r:id="rId11"/>
    <p:sldId id="263" r:id="rId12"/>
    <p:sldId id="265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Marcellus" panose="020E0602050203020307" pitchFamily="34" charset="0"/>
      <p:regular r:id="rId23"/>
    </p:embeddedFont>
    <p:embeddedFont>
      <p:font typeface="Montserrat" pitchFamily="2" charset="-52"/>
      <p:regular r:id="rId24"/>
      <p:bold r:id="rId25"/>
      <p:italic r:id="rId26"/>
      <p:boldItalic r:id="rId2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50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0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05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75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82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7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19350"/>
            <a:ext cx="7556421" cy="33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Веб-приложение для учета посещаемости и успеваемости студентов колледжа</a:t>
            </a:r>
            <a:endParaRPr lang="en-US" sz="51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32AA4CE-5D61-494C-AEBD-6B818710024E}"/>
              </a:ext>
            </a:extLst>
          </p:cNvPr>
          <p:cNvSpPr/>
          <p:nvPr/>
        </p:nvSpPr>
        <p:spPr>
          <a:xfrm>
            <a:off x="12718473" y="7758545"/>
            <a:ext cx="1823258" cy="399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3070"/>
            <a:ext cx="8459986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Обзор Проекта и Основная Цель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670" y="2591677"/>
            <a:ext cx="13042821" cy="126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Представляем инновационное веб-приложение, разработанное для оптимизации и автоматизации процессов учета посещаемости и успеваемости студентов колледжа. Этот проект создан как Single Page Application (SPA), обеспечивая мгновенную навигацию без перезагрузки страниц.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3974425"/>
            <a:ext cx="4196358" cy="2552105"/>
          </a:xfrm>
          <a:prstGeom prst="roundRect">
            <a:avLst>
              <a:gd name="adj" fmla="val 5733"/>
            </a:avLst>
          </a:prstGeom>
          <a:solidFill>
            <a:schemeClr val="bg1">
              <a:alpha val="95000"/>
            </a:scheme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974425"/>
            <a:ext cx="121920" cy="2552105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231719"/>
            <a:ext cx="3590330" cy="101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Автоматизация учета</a:t>
            </a:r>
            <a:endParaRPr lang="en-US" sz="3050" dirty="0"/>
          </a:p>
        </p:txBody>
      </p:sp>
      <p:sp>
        <p:nvSpPr>
          <p:cNvPr id="7" name="Text 5"/>
          <p:cNvSpPr/>
          <p:nvPr/>
        </p:nvSpPr>
        <p:spPr>
          <a:xfrm>
            <a:off x="1142524" y="5384840"/>
            <a:ext cx="359033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Эффективный учет посещаемости и оценок.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216962" y="3974425"/>
            <a:ext cx="4196358" cy="2552105"/>
          </a:xfrm>
          <a:prstGeom prst="roundRect">
            <a:avLst>
              <a:gd name="adj" fmla="val 5733"/>
            </a:avLst>
          </a:prstGeom>
          <a:solidFill>
            <a:schemeClr val="bg1">
              <a:alpha val="95000"/>
            </a:scheme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974425"/>
            <a:ext cx="121920" cy="2552105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4231719"/>
            <a:ext cx="3590330" cy="101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Удобный интерфейс</a:t>
            </a:r>
            <a:endParaRPr lang="en-US" sz="3050" dirty="0"/>
          </a:p>
        </p:txBody>
      </p:sp>
      <p:sp>
        <p:nvSpPr>
          <p:cNvPr id="11" name="Text 9"/>
          <p:cNvSpPr/>
          <p:nvPr/>
        </p:nvSpPr>
        <p:spPr>
          <a:xfrm>
            <a:off x="5565696" y="5003244"/>
            <a:ext cx="359033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Интуитивно понятный дизайн для преподавателей и администраторов.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640133" y="3974425"/>
            <a:ext cx="4196358" cy="2552105"/>
          </a:xfrm>
          <a:prstGeom prst="roundRect">
            <a:avLst>
              <a:gd name="adj" fmla="val 5733"/>
            </a:avLst>
          </a:prstGeom>
          <a:solidFill>
            <a:schemeClr val="bg1">
              <a:alpha val="95000"/>
            </a:scheme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974425"/>
            <a:ext cx="121920" cy="2552105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4231719"/>
            <a:ext cx="3590330" cy="101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Быстрая навигация</a:t>
            </a:r>
            <a:endParaRPr lang="en-US" sz="3050" dirty="0"/>
          </a:p>
        </p:txBody>
      </p:sp>
      <p:sp>
        <p:nvSpPr>
          <p:cNvPr id="15" name="Text 13"/>
          <p:cNvSpPr/>
          <p:nvPr/>
        </p:nvSpPr>
        <p:spPr>
          <a:xfrm>
            <a:off x="10019348" y="4980362"/>
            <a:ext cx="359033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 архитектура для бесшовного пользовательского опыта.</a:t>
            </a:r>
            <a:endParaRPr lang="en-US" sz="20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8041198-770F-4511-8574-9CEA774E3B40}"/>
              </a:ext>
            </a:extLst>
          </p:cNvPr>
          <p:cNvSpPr/>
          <p:nvPr/>
        </p:nvSpPr>
        <p:spPr>
          <a:xfrm>
            <a:off x="12718473" y="7758545"/>
            <a:ext cx="1823258" cy="399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6351" y="829389"/>
            <a:ext cx="6080165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6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Основные Возможности Системы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046351" y="1606569"/>
            <a:ext cx="802409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Приложение предлагает широкий спектр функций, адаптированных под различные категории пользователей.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046351" y="2798326"/>
            <a:ext cx="3932039" cy="2337554"/>
          </a:xfrm>
          <a:prstGeom prst="roundRect">
            <a:avLst>
              <a:gd name="adj" fmla="val 4694"/>
            </a:avLst>
          </a:prstGeom>
          <a:solidFill>
            <a:schemeClr val="bg1">
              <a:alpha val="95000"/>
            </a:schemeClr>
          </a:solidFill>
          <a:ln/>
        </p:spPr>
      </p:sp>
      <p:sp>
        <p:nvSpPr>
          <p:cNvPr id="6" name="Shape 3"/>
          <p:cNvSpPr/>
          <p:nvPr/>
        </p:nvSpPr>
        <p:spPr>
          <a:xfrm>
            <a:off x="6046351" y="2775466"/>
            <a:ext cx="3932039" cy="91440"/>
          </a:xfrm>
          <a:prstGeom prst="roundRect">
            <a:avLst>
              <a:gd name="adj" fmla="val 73495"/>
            </a:avLst>
          </a:prstGeom>
          <a:solidFill>
            <a:srgbClr val="FF954F"/>
          </a:solidFill>
          <a:ln/>
        </p:spPr>
      </p:sp>
      <p:sp>
        <p:nvSpPr>
          <p:cNvPr id="7" name="Shape 4"/>
          <p:cNvSpPr/>
          <p:nvPr/>
        </p:nvSpPr>
        <p:spPr>
          <a:xfrm>
            <a:off x="7772340" y="2558415"/>
            <a:ext cx="479941" cy="479941"/>
          </a:xfrm>
          <a:prstGeom prst="roundRect">
            <a:avLst>
              <a:gd name="adj" fmla="val 190523"/>
            </a:avLst>
          </a:prstGeom>
          <a:solidFill>
            <a:srgbClr val="FF954F"/>
          </a:solidFill>
          <a:ln/>
        </p:spPr>
      </p:sp>
      <p:sp>
        <p:nvSpPr>
          <p:cNvPr id="8" name="Text 5"/>
          <p:cNvSpPr/>
          <p:nvPr/>
        </p:nvSpPr>
        <p:spPr>
          <a:xfrm>
            <a:off x="7836131" y="2711529"/>
            <a:ext cx="338051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229112" y="3198257"/>
            <a:ext cx="2747129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Для всех пользователей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229112" y="3593187"/>
            <a:ext cx="3566517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Просмотр списка студентов (с фильтрацией и поиском)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29112" y="4299314"/>
            <a:ext cx="3566517" cy="62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Просмотр записей о посещаемости по датам и предметам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29112" y="5052731"/>
            <a:ext cx="3566517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Просмотр успеваемости и статистики по оценкам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0160437" y="2590086"/>
            <a:ext cx="3932158" cy="2337554"/>
          </a:xfrm>
          <a:prstGeom prst="roundRect">
            <a:avLst>
              <a:gd name="adj" fmla="val 4694"/>
            </a:avLst>
          </a:prstGeom>
          <a:solidFill>
            <a:schemeClr val="bg1">
              <a:alpha val="95000"/>
            </a:scheme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138291" y="2775466"/>
            <a:ext cx="3932158" cy="91440"/>
          </a:xfrm>
          <a:prstGeom prst="roundRect">
            <a:avLst>
              <a:gd name="adj" fmla="val 73495"/>
            </a:avLst>
          </a:prstGeom>
          <a:solidFill>
            <a:srgbClr val="FF954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864400" y="2558415"/>
            <a:ext cx="479941" cy="479941"/>
          </a:xfrm>
          <a:prstGeom prst="roundRect">
            <a:avLst>
              <a:gd name="adj" fmla="val 190523"/>
            </a:avLst>
          </a:prstGeom>
          <a:solidFill>
            <a:srgbClr val="FF954F"/>
          </a:solidFill>
          <a:ln/>
        </p:spPr>
      </p:sp>
      <p:sp>
        <p:nvSpPr>
          <p:cNvPr id="16" name="Text 13"/>
          <p:cNvSpPr/>
          <p:nvPr/>
        </p:nvSpPr>
        <p:spPr>
          <a:xfrm>
            <a:off x="12008346" y="2711528"/>
            <a:ext cx="23907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0321052" y="3198257"/>
            <a:ext cx="236696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Для Преподавателей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0321052" y="3593187"/>
            <a:ext cx="3566636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Редактирование и массовая отметка посещаемости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0321052" y="4338647"/>
            <a:ext cx="3566636" cy="946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оценками (добавление, редактирование, удаление)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6046351" y="5746281"/>
            <a:ext cx="8024098" cy="1449586"/>
          </a:xfrm>
          <a:prstGeom prst="roundRect">
            <a:avLst>
              <a:gd name="adj" fmla="val 7570"/>
            </a:avLst>
          </a:prstGeom>
          <a:solidFill>
            <a:schemeClr val="bg1">
              <a:alpha val="95000"/>
            </a:schemeClr>
          </a:solidFill>
          <a:ln/>
        </p:spPr>
      </p:sp>
      <p:sp>
        <p:nvSpPr>
          <p:cNvPr id="21" name="Shape 18"/>
          <p:cNvSpPr/>
          <p:nvPr/>
        </p:nvSpPr>
        <p:spPr>
          <a:xfrm>
            <a:off x="6046351" y="5723421"/>
            <a:ext cx="8024098" cy="91440"/>
          </a:xfrm>
          <a:prstGeom prst="roundRect">
            <a:avLst>
              <a:gd name="adj" fmla="val 73495"/>
            </a:avLst>
          </a:prstGeom>
          <a:solidFill>
            <a:srgbClr val="FF954F"/>
          </a:solidFill>
          <a:ln/>
        </p:spPr>
      </p:sp>
      <p:sp>
        <p:nvSpPr>
          <p:cNvPr id="22" name="Shape 19"/>
          <p:cNvSpPr/>
          <p:nvPr/>
        </p:nvSpPr>
        <p:spPr>
          <a:xfrm>
            <a:off x="9818430" y="5528538"/>
            <a:ext cx="479941" cy="479941"/>
          </a:xfrm>
          <a:prstGeom prst="roundRect">
            <a:avLst>
              <a:gd name="adj" fmla="val 190523"/>
            </a:avLst>
          </a:prstGeom>
          <a:solidFill>
            <a:srgbClr val="FF954F"/>
          </a:solidFill>
          <a:ln/>
        </p:spPr>
      </p:sp>
      <p:sp>
        <p:nvSpPr>
          <p:cNvPr id="23" name="Text 20"/>
          <p:cNvSpPr/>
          <p:nvPr/>
        </p:nvSpPr>
        <p:spPr>
          <a:xfrm>
            <a:off x="9978390" y="5658202"/>
            <a:ext cx="224097" cy="237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229112" y="6146212"/>
            <a:ext cx="2513290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Для Администраторов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229112" y="6541142"/>
            <a:ext cx="7658576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CRUD для студентов, групп и предметов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228413" y="6840096"/>
            <a:ext cx="7658576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Деактивация записей вместо физического удаления</a:t>
            </a:r>
            <a:endParaRPr lang="en-US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7E67F43-EF4B-4C5A-B3CF-36C571FD8757}"/>
              </a:ext>
            </a:extLst>
          </p:cNvPr>
          <p:cNvSpPr/>
          <p:nvPr/>
        </p:nvSpPr>
        <p:spPr>
          <a:xfrm>
            <a:off x="12718473" y="7758545"/>
            <a:ext cx="1823258" cy="399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9657" y="460534"/>
            <a:ext cx="61918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ru-RU" sz="3600" dirty="0"/>
              <a:t>Контекстная диаграмма</a:t>
            </a:r>
            <a:endParaRPr lang="en-US" sz="3600" dirty="0">
              <a:latin typeface="Marcellus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9657" y="1229558"/>
            <a:ext cx="10590967" cy="931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ru-RU" dirty="0">
                <a:latin typeface="Montserrat" pitchFamily="34" charset="0"/>
              </a:rPr>
              <a:t>Диаграмма </a:t>
            </a:r>
            <a:r>
              <a:rPr lang="en-US" dirty="0">
                <a:latin typeface="Montserrat" pitchFamily="34" charset="0"/>
              </a:rPr>
              <a:t>IDEF</a:t>
            </a:r>
            <a:r>
              <a:rPr lang="ru-RU" dirty="0">
                <a:latin typeface="Montserrat" pitchFamily="34" charset="0"/>
              </a:rPr>
              <a:t>0 показывает основной процесс: «Учет учебной деятельности». Входами процесса являются списки студентов и расписание, выходами — ведомости и отчеты. Управлением служат устав колледжа и приказы Минобрнауки. Механизмами являются преподаватели и администрация</a:t>
            </a:r>
            <a:endParaRPr lang="en-US" dirty="0">
              <a:latin typeface="Montserrat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8B1EB7E-309B-4C5D-AD4F-136920761992}"/>
              </a:ext>
            </a:extLst>
          </p:cNvPr>
          <p:cNvSpPr/>
          <p:nvPr/>
        </p:nvSpPr>
        <p:spPr>
          <a:xfrm>
            <a:off x="12718473" y="7758545"/>
            <a:ext cx="1823258" cy="399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F0A8946-4292-48FD-9EE5-9DA5B195F688}"/>
              </a:ext>
            </a:extLst>
          </p:cNvPr>
          <p:cNvPicPr/>
          <p:nvPr/>
        </p:nvPicPr>
        <p:blipFill rotWithShape="1">
          <a:blip r:embed="rId3"/>
          <a:srcRect l="6068" t="19135" r="8536" b="15932"/>
          <a:stretch/>
        </p:blipFill>
        <p:spPr bwMode="auto">
          <a:xfrm>
            <a:off x="2332959" y="2161309"/>
            <a:ext cx="9964362" cy="56077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9657" y="460534"/>
            <a:ext cx="61918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ru-RU" sz="3600" dirty="0"/>
              <a:t>Диаграмма декомпозиции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019656" y="1085471"/>
            <a:ext cx="10590967" cy="117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1800"/>
              </a:lnSpc>
              <a:buNone/>
            </a:pPr>
            <a:r>
              <a:rPr lang="ru-RU" dirty="0">
                <a:latin typeface="Montserrat" pitchFamily="34" charset="0"/>
              </a:rPr>
              <a:t>Анализ потоков данных (</a:t>
            </a:r>
            <a:r>
              <a:rPr lang="en-US" dirty="0">
                <a:latin typeface="Montserrat" pitchFamily="34" charset="0"/>
              </a:rPr>
              <a:t>DFD</a:t>
            </a:r>
            <a:r>
              <a:rPr lang="ru-RU" dirty="0">
                <a:latin typeface="Montserrat" pitchFamily="34" charset="0"/>
              </a:rPr>
              <a:t>) выявил избыточность при передаче информации от преподавателя к куратору и далее в учебную часть. В текущей системе данные дублируются в нескольких бумажных журналах, что создает «узкие горлышки» в конце каждого месяца. Выявленные проблемы: высокая трудоемкость ручного сбора статистики</a:t>
            </a:r>
            <a:r>
              <a:rPr lang="en-US" dirty="0">
                <a:latin typeface="Montserrat" pitchFamily="34" charset="0"/>
              </a:rPr>
              <a:t>; </a:t>
            </a:r>
            <a:r>
              <a:rPr lang="ru-RU" dirty="0">
                <a:latin typeface="Montserrat" pitchFamily="34" charset="0"/>
              </a:rPr>
              <a:t>риск потери данных при порче бумажного носителя</a:t>
            </a:r>
            <a:r>
              <a:rPr lang="en-US" dirty="0">
                <a:latin typeface="Montserrat" pitchFamily="34" charset="0"/>
              </a:rPr>
              <a:t>.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8B1EB7E-309B-4C5D-AD4F-136920761992}"/>
              </a:ext>
            </a:extLst>
          </p:cNvPr>
          <p:cNvSpPr/>
          <p:nvPr/>
        </p:nvSpPr>
        <p:spPr>
          <a:xfrm>
            <a:off x="12718473" y="7758545"/>
            <a:ext cx="1823258" cy="399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C93171-A72D-4F4E-8A75-73A2686B95FB}"/>
              </a:ext>
            </a:extLst>
          </p:cNvPr>
          <p:cNvPicPr/>
          <p:nvPr/>
        </p:nvPicPr>
        <p:blipFill rotWithShape="1">
          <a:blip r:embed="rId3"/>
          <a:srcRect l="1734" t="15142" r="3644" b="15281"/>
          <a:stretch/>
        </p:blipFill>
        <p:spPr bwMode="auto">
          <a:xfrm>
            <a:off x="2019657" y="2385341"/>
            <a:ext cx="10590967" cy="53837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" name="Соединитель: уступ 4">
            <a:extLst>
              <a:ext uri="{FF2B5EF4-FFF2-40B4-BE49-F238E27FC236}">
                <a16:creationId xmlns:a16="http://schemas.microsoft.com/office/drawing/2014/main" id="{285660F1-C20D-4DDB-A0F8-ADD13EBF9A27}"/>
              </a:ext>
            </a:extLst>
          </p:cNvPr>
          <p:cNvCxnSpPr>
            <a:cxnSpLocks/>
            <a:endCxn id="9" idx="0"/>
          </p:cNvCxnSpPr>
          <p:nvPr/>
        </p:nvCxnSpPr>
        <p:spPr>
          <a:xfrm rot="10800000" flipV="1">
            <a:off x="2230032" y="4571636"/>
            <a:ext cx="2286550" cy="1031142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67CF2B-35CE-4AD9-AB90-5908D6D592EF}"/>
              </a:ext>
            </a:extLst>
          </p:cNvPr>
          <p:cNvSpPr txBox="1"/>
          <p:nvPr/>
        </p:nvSpPr>
        <p:spPr>
          <a:xfrm>
            <a:off x="1198339" y="5602778"/>
            <a:ext cx="2063385" cy="319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</a:pPr>
            <a:r>
              <a:rPr lang="ru-RU" sz="2000" dirty="0">
                <a:latin typeface="Montserrat" pitchFamily="34" charset="0"/>
              </a:rPr>
              <a:t>Подпроцессы</a:t>
            </a:r>
          </a:p>
        </p:txBody>
      </p:sp>
    </p:spTree>
    <p:extLst>
      <p:ext uri="{BB962C8B-B14F-4D97-AF65-F5344CB8AC3E}">
        <p14:creationId xmlns:p14="http://schemas.microsoft.com/office/powerpoint/2010/main" val="11577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9657" y="460534"/>
            <a:ext cx="1097036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ru-RU" sz="36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Диаграмма вариантов использования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019656" y="1085470"/>
            <a:ext cx="10590967" cy="16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1800"/>
              </a:lnSpc>
              <a:buNone/>
            </a:pPr>
            <a:r>
              <a:rPr lang="ru-RU" dirty="0">
                <a:latin typeface="Montserrat" pitchFamily="34" charset="0"/>
              </a:rPr>
              <a:t>Диаграмма вариантов использования описывает функциональные возможности ролей: </a:t>
            </a:r>
          </a:p>
          <a:p>
            <a:pPr indent="0">
              <a:lnSpc>
                <a:spcPts val="1000"/>
              </a:lnSpc>
              <a:buNone/>
            </a:pPr>
            <a:endParaRPr lang="ru-RU" dirty="0">
              <a:latin typeface="Montserrat" pitchFamily="34" charset="0"/>
            </a:endParaRPr>
          </a:p>
          <a:p>
            <a:pPr indent="0">
              <a:buNone/>
            </a:pPr>
            <a:r>
              <a:rPr lang="ru-RU" dirty="0">
                <a:latin typeface="Montserrat" pitchFamily="34" charset="0"/>
              </a:rPr>
              <a:t>Студент -&gt; Просмотр статистики; </a:t>
            </a:r>
          </a:p>
          <a:p>
            <a:pPr indent="0">
              <a:buNone/>
            </a:pPr>
            <a:r>
              <a:rPr lang="ru-RU" dirty="0">
                <a:latin typeface="Montserrat" pitchFamily="34" charset="0"/>
              </a:rPr>
              <a:t>Преподаватель -&gt; Ведение журнала (оценки/посещаемость); </a:t>
            </a:r>
          </a:p>
          <a:p>
            <a:pPr indent="0">
              <a:buNone/>
            </a:pPr>
            <a:r>
              <a:rPr lang="ru-RU" dirty="0">
                <a:latin typeface="Montserrat" pitchFamily="34" charset="0"/>
              </a:rPr>
              <a:t>Администратор -&gt; Управление справочными данными и пользователями</a:t>
            </a:r>
            <a:endParaRPr lang="en-US" dirty="0">
              <a:latin typeface="Montserrat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8B1EB7E-309B-4C5D-AD4F-136920761992}"/>
              </a:ext>
            </a:extLst>
          </p:cNvPr>
          <p:cNvSpPr/>
          <p:nvPr/>
        </p:nvSpPr>
        <p:spPr>
          <a:xfrm>
            <a:off x="12718473" y="7758545"/>
            <a:ext cx="1823258" cy="399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D55150-1BAE-4A8E-8C50-C591CA5D9D53}"/>
              </a:ext>
            </a:extLst>
          </p:cNvPr>
          <p:cNvPicPr/>
          <p:nvPr/>
        </p:nvPicPr>
        <p:blipFill>
          <a:blip r:embed="rId3"/>
          <a:stretch/>
        </p:blipFill>
        <p:spPr bwMode="auto">
          <a:xfrm>
            <a:off x="516704" y="3236422"/>
            <a:ext cx="13596991" cy="336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61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6638" y="490299"/>
            <a:ext cx="6429494" cy="533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Технологический Стек: Frontend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76697" y="1296233"/>
            <a:ext cx="11277005" cy="747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Наше приложение построено на современных и надежных технологиях, обеспечивающих высокую производительность и стабильность.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6638" y="2043708"/>
            <a:ext cx="534829" cy="5348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76638" y="2801303"/>
            <a:ext cx="2562939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React 19.2.0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676638" y="3241358"/>
            <a:ext cx="5527119" cy="46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Ведущая библиотека для создания интерактивных пользовательских интерфейсов.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6523" y="2043708"/>
            <a:ext cx="534829" cy="5348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6523" y="2801303"/>
            <a:ext cx="2562939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TypeScript 5.9.3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426523" y="3241358"/>
            <a:ext cx="5527119" cy="46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Типизированный JavaScript для повышения надежности и </a:t>
            </a:r>
            <a:r>
              <a:rPr lang="en-US" sz="16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поддерживаемости</a:t>
            </a:r>
            <a:r>
              <a:rPr lang="en-US" sz="14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кода.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6638" y="4061222"/>
            <a:ext cx="534829" cy="5348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76638" y="4818817"/>
            <a:ext cx="2887147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Vite (rolldown-vite 7.3.0)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676638" y="5258872"/>
            <a:ext cx="5527119" cy="46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Быстрый инструмент сборки нового поколения для моментальной разработки.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6523" y="4061222"/>
            <a:ext cx="534829" cy="5348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6523" y="4818817"/>
            <a:ext cx="2562939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MobX 6.15.0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426523" y="5258872"/>
            <a:ext cx="5527119" cy="46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Простая</a:t>
            </a:r>
            <a:r>
              <a:rPr lang="en-US" sz="14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масштабируемая библиотека для управления состоянием приложения.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76638" y="6078736"/>
            <a:ext cx="534829" cy="53482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76638" y="6836331"/>
            <a:ext cx="2562939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SCSS/SASS 1.97.1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1676638" y="7276386"/>
            <a:ext cx="5527119" cy="46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Мощный препроцессор CSS для модульной и гибкой стилизации.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6523" y="6078736"/>
            <a:ext cx="534829" cy="53482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26523" y="6836331"/>
            <a:ext cx="2562939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Firebase 12.7.0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7426523" y="7276386"/>
            <a:ext cx="5527119" cy="46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Гибкая </a:t>
            </a:r>
            <a:r>
              <a:rPr lang="en-US" sz="16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база</a:t>
            </a:r>
            <a:r>
              <a:rPr lang="en-US" sz="14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данных в реальном времени для быстрого хранения и синхронизации данных.</a:t>
            </a:r>
            <a:endParaRPr lang="en-US" sz="14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971FFC-10ED-43D5-BD61-854EFF5FC562}"/>
              </a:ext>
            </a:extLst>
          </p:cNvPr>
          <p:cNvSpPr/>
          <p:nvPr/>
        </p:nvSpPr>
        <p:spPr>
          <a:xfrm>
            <a:off x="12718473" y="7758545"/>
            <a:ext cx="1823258" cy="399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9657" y="460534"/>
            <a:ext cx="61918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0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Архитектура Проекта: SRC-Папка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019657" y="1229558"/>
            <a:ext cx="10590967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Структура проекта четко организована для облегчения разработки и масштабирования. SRC-папка содержит все ключевые модули приложения.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03651" y="1919407"/>
            <a:ext cx="22860" cy="5849541"/>
          </a:xfrm>
          <a:prstGeom prst="roundRect">
            <a:avLst>
              <a:gd name="adj" fmla="val 307644"/>
            </a:avLst>
          </a:prstGeom>
          <a:solidFill>
            <a:srgbClr val="FFE0CC"/>
          </a:solidFill>
          <a:ln/>
        </p:spPr>
      </p:sp>
      <p:sp>
        <p:nvSpPr>
          <p:cNvPr id="5" name="Shape 3"/>
          <p:cNvSpPr/>
          <p:nvPr/>
        </p:nvSpPr>
        <p:spPr>
          <a:xfrm>
            <a:off x="7003137" y="2096333"/>
            <a:ext cx="334804" cy="22860"/>
          </a:xfrm>
          <a:prstGeom prst="roundRect">
            <a:avLst>
              <a:gd name="adj" fmla="val 307644"/>
            </a:avLst>
          </a:prstGeom>
          <a:solidFill>
            <a:srgbClr val="FFE0CC"/>
          </a:solidFill>
          <a:ln/>
        </p:spPr>
      </p:sp>
      <p:sp>
        <p:nvSpPr>
          <p:cNvPr id="6" name="Shape 4"/>
          <p:cNvSpPr/>
          <p:nvPr/>
        </p:nvSpPr>
        <p:spPr>
          <a:xfrm>
            <a:off x="7252335" y="2045018"/>
            <a:ext cx="125492" cy="125492"/>
          </a:xfrm>
          <a:prstGeom prst="roundRect">
            <a:avLst>
              <a:gd name="adj" fmla="val 364326"/>
            </a:avLst>
          </a:prstGeom>
          <a:solidFill>
            <a:srgbClr val="FF954F"/>
          </a:solidFill>
          <a:ln/>
        </p:spPr>
      </p:sp>
      <p:sp>
        <p:nvSpPr>
          <p:cNvPr id="7" name="Text 5"/>
          <p:cNvSpPr/>
          <p:nvPr/>
        </p:nvSpPr>
        <p:spPr>
          <a:xfrm>
            <a:off x="4238387" y="1971675"/>
            <a:ext cx="240696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Компоненты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9657" y="2384941"/>
            <a:ext cx="462569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Переиспользуемые UI элементы и макеты.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292221" y="3100864"/>
            <a:ext cx="334804" cy="22860"/>
          </a:xfrm>
          <a:prstGeom prst="roundRect">
            <a:avLst>
              <a:gd name="adj" fmla="val 307644"/>
            </a:avLst>
          </a:prstGeom>
          <a:solidFill>
            <a:srgbClr val="FFE0CC"/>
          </a:solidFill>
          <a:ln/>
        </p:spPr>
      </p:sp>
      <p:sp>
        <p:nvSpPr>
          <p:cNvPr id="10" name="Shape 8"/>
          <p:cNvSpPr/>
          <p:nvPr/>
        </p:nvSpPr>
        <p:spPr>
          <a:xfrm>
            <a:off x="7252335" y="3049548"/>
            <a:ext cx="125492" cy="125492"/>
          </a:xfrm>
          <a:prstGeom prst="roundRect">
            <a:avLst>
              <a:gd name="adj" fmla="val 364326"/>
            </a:avLst>
          </a:prstGeom>
          <a:solidFill>
            <a:srgbClr val="FF954F"/>
          </a:solidFill>
          <a:ln/>
        </p:spPr>
      </p:sp>
      <p:sp>
        <p:nvSpPr>
          <p:cNvPr id="11" name="Text 9"/>
          <p:cNvSpPr/>
          <p:nvPr/>
        </p:nvSpPr>
        <p:spPr>
          <a:xfrm>
            <a:off x="7984808" y="2976205"/>
            <a:ext cx="240696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Страницы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84808" y="3389471"/>
            <a:ext cx="4625816" cy="435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Основные разделы приложения (главная, студенты, посещаемость).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003137" y="3964067"/>
            <a:ext cx="334804" cy="22860"/>
          </a:xfrm>
          <a:prstGeom prst="roundRect">
            <a:avLst>
              <a:gd name="adj" fmla="val 307644"/>
            </a:avLst>
          </a:prstGeom>
          <a:solidFill>
            <a:srgbClr val="FFE0CC"/>
          </a:solidFill>
          <a:ln/>
        </p:spPr>
      </p:sp>
      <p:sp>
        <p:nvSpPr>
          <p:cNvPr id="14" name="Shape 12"/>
          <p:cNvSpPr/>
          <p:nvPr/>
        </p:nvSpPr>
        <p:spPr>
          <a:xfrm>
            <a:off x="7252335" y="3912751"/>
            <a:ext cx="125492" cy="125492"/>
          </a:xfrm>
          <a:prstGeom prst="roundRect">
            <a:avLst>
              <a:gd name="adj" fmla="val 364326"/>
            </a:avLst>
          </a:prstGeom>
          <a:solidFill>
            <a:srgbClr val="FF954F"/>
          </a:solidFill>
          <a:ln/>
        </p:spPr>
      </p:sp>
      <p:sp>
        <p:nvSpPr>
          <p:cNvPr id="15" name="Text 13"/>
          <p:cNvSpPr/>
          <p:nvPr/>
        </p:nvSpPr>
        <p:spPr>
          <a:xfrm>
            <a:off x="4238387" y="3839408"/>
            <a:ext cx="240696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Store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19657" y="4252674"/>
            <a:ext cx="462569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состоянием (Auth, Data, Navigation, UI).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292221" y="4827389"/>
            <a:ext cx="334804" cy="22860"/>
          </a:xfrm>
          <a:prstGeom prst="roundRect">
            <a:avLst>
              <a:gd name="adj" fmla="val 307644"/>
            </a:avLst>
          </a:prstGeom>
          <a:solidFill>
            <a:srgbClr val="FFE0CC"/>
          </a:solidFill>
          <a:ln/>
        </p:spPr>
      </p:sp>
      <p:sp>
        <p:nvSpPr>
          <p:cNvPr id="18" name="Shape 16"/>
          <p:cNvSpPr/>
          <p:nvPr/>
        </p:nvSpPr>
        <p:spPr>
          <a:xfrm>
            <a:off x="7252335" y="4776073"/>
            <a:ext cx="125492" cy="125492"/>
          </a:xfrm>
          <a:prstGeom prst="roundRect">
            <a:avLst>
              <a:gd name="adj" fmla="val 364326"/>
            </a:avLst>
          </a:prstGeom>
          <a:solidFill>
            <a:srgbClr val="FF954F"/>
          </a:solidFill>
          <a:ln/>
        </p:spPr>
      </p:sp>
      <p:sp>
        <p:nvSpPr>
          <p:cNvPr id="19" name="Text 17"/>
          <p:cNvSpPr/>
          <p:nvPr/>
        </p:nvSpPr>
        <p:spPr>
          <a:xfrm>
            <a:off x="7984808" y="4702731"/>
            <a:ext cx="240696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Types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984808" y="5115997"/>
            <a:ext cx="4625816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Определения</a:t>
            </a:r>
            <a:r>
              <a:rPr lang="en-US" sz="13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TypeScript типов и интерфейсов.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03137" y="5690711"/>
            <a:ext cx="334804" cy="22860"/>
          </a:xfrm>
          <a:prstGeom prst="roundRect">
            <a:avLst>
              <a:gd name="adj" fmla="val 307644"/>
            </a:avLst>
          </a:prstGeom>
          <a:solidFill>
            <a:srgbClr val="FFE0CC"/>
          </a:solidFill>
          <a:ln/>
        </p:spPr>
      </p:sp>
      <p:sp>
        <p:nvSpPr>
          <p:cNvPr id="22" name="Shape 20"/>
          <p:cNvSpPr/>
          <p:nvPr/>
        </p:nvSpPr>
        <p:spPr>
          <a:xfrm>
            <a:off x="7252335" y="5639395"/>
            <a:ext cx="125492" cy="125492"/>
          </a:xfrm>
          <a:prstGeom prst="roundRect">
            <a:avLst>
              <a:gd name="adj" fmla="val 364326"/>
            </a:avLst>
          </a:prstGeom>
          <a:solidFill>
            <a:srgbClr val="FF954F"/>
          </a:solidFill>
          <a:ln/>
        </p:spPr>
      </p:sp>
      <p:sp>
        <p:nvSpPr>
          <p:cNvPr id="23" name="Text 21"/>
          <p:cNvSpPr/>
          <p:nvPr/>
        </p:nvSpPr>
        <p:spPr>
          <a:xfrm>
            <a:off x="4238387" y="5566053"/>
            <a:ext cx="240696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Стили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019657" y="5979319"/>
            <a:ext cx="462569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Глобальные стили и модульные SCSS-файлы.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292221" y="6554033"/>
            <a:ext cx="334804" cy="22860"/>
          </a:xfrm>
          <a:prstGeom prst="roundRect">
            <a:avLst>
              <a:gd name="adj" fmla="val 307644"/>
            </a:avLst>
          </a:prstGeom>
          <a:solidFill>
            <a:srgbClr val="FFE0CC"/>
          </a:solidFill>
          <a:ln/>
        </p:spPr>
      </p:sp>
      <p:sp>
        <p:nvSpPr>
          <p:cNvPr id="26" name="Shape 24"/>
          <p:cNvSpPr/>
          <p:nvPr/>
        </p:nvSpPr>
        <p:spPr>
          <a:xfrm>
            <a:off x="7252335" y="6502718"/>
            <a:ext cx="125492" cy="125492"/>
          </a:xfrm>
          <a:prstGeom prst="roundRect">
            <a:avLst>
              <a:gd name="adj" fmla="val 364326"/>
            </a:avLst>
          </a:prstGeom>
          <a:solidFill>
            <a:srgbClr val="FF954F"/>
          </a:solidFill>
          <a:ln/>
        </p:spPr>
      </p:sp>
      <p:sp>
        <p:nvSpPr>
          <p:cNvPr id="27" name="Text 25"/>
          <p:cNvSpPr/>
          <p:nvPr/>
        </p:nvSpPr>
        <p:spPr>
          <a:xfrm>
            <a:off x="7984808" y="6429375"/>
            <a:ext cx="240696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Хуки &amp; Утилиты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984808" y="6842641"/>
            <a:ext cx="4625816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Кастомные React хуки и вспомогательные функции.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8B1EB7E-309B-4C5D-AD4F-136920761992}"/>
              </a:ext>
            </a:extLst>
          </p:cNvPr>
          <p:cNvSpPr/>
          <p:nvPr/>
        </p:nvSpPr>
        <p:spPr>
          <a:xfrm>
            <a:off x="12718473" y="7758545"/>
            <a:ext cx="1823258" cy="399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118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0466" y="560308"/>
            <a:ext cx="9246989" cy="609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ru-RU" sz="3650" dirty="0"/>
              <a:t>Проектирование БД: Схема данных</a:t>
            </a:r>
            <a:endParaRPr lang="en-US" sz="3650" dirty="0">
              <a:latin typeface="Marcellus" pitchFamily="34" charset="0"/>
            </a:endParaRPr>
          </a:p>
          <a:p>
            <a:pPr marL="0" indent="0" algn="l">
              <a:lnSpc>
                <a:spcPts val="4750"/>
              </a:lnSpc>
              <a:buNone/>
            </a:pPr>
            <a:endParaRPr lang="en-US" sz="3650" dirty="0">
              <a:latin typeface="Marcellus" pitchFamily="34" charset="0"/>
            </a:endParaRPr>
          </a:p>
          <a:p>
            <a:pPr marL="0" indent="0" algn="l">
              <a:lnSpc>
                <a:spcPts val="4750"/>
              </a:lnSpc>
              <a:buNone/>
            </a:pP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70465" y="3271069"/>
            <a:ext cx="6272187" cy="2115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2200" dirty="0">
                <a:latin typeface="Montserrat" pitchFamily="34" charset="0"/>
              </a:rPr>
              <a:t>БД включает сущности </a:t>
            </a:r>
            <a:r>
              <a:rPr lang="en-US" sz="2200" dirty="0">
                <a:latin typeface="Montserrat" pitchFamily="34" charset="0"/>
              </a:rPr>
              <a:t>Student, Group, Subject, Attendance </a:t>
            </a:r>
            <a:r>
              <a:rPr lang="ru-RU" sz="2200" dirty="0">
                <a:latin typeface="Montserrat" pitchFamily="34" charset="0"/>
              </a:rPr>
              <a:t>и </a:t>
            </a:r>
            <a:r>
              <a:rPr lang="en-US" sz="2200" dirty="0">
                <a:latin typeface="Montserrat" pitchFamily="34" charset="0"/>
              </a:rPr>
              <a:t>Grade. </a:t>
            </a:r>
            <a:r>
              <a:rPr lang="ru-RU" sz="2200" dirty="0">
                <a:latin typeface="Montserrat" pitchFamily="34" charset="0"/>
              </a:rPr>
              <a:t>Связи реализованы через идентификаторы </a:t>
            </a:r>
            <a:r>
              <a:rPr lang="en-US" sz="2200" dirty="0">
                <a:latin typeface="Montserrat" pitchFamily="34" charset="0"/>
              </a:rPr>
              <a:t>UUID</a:t>
            </a:r>
            <a:r>
              <a:rPr lang="ru-RU" sz="2200" dirty="0">
                <a:latin typeface="Montserrat" pitchFamily="34" charset="0"/>
              </a:rPr>
              <a:t>. </a:t>
            </a:r>
            <a:r>
              <a:rPr lang="en-US" sz="2200" dirty="0">
                <a:latin typeface="Montserrat" pitchFamily="34" charset="0"/>
              </a:rPr>
              <a:t>NoSQL</a:t>
            </a:r>
            <a:r>
              <a:rPr lang="ru-RU" sz="2200" dirty="0">
                <a:latin typeface="Montserrat" pitchFamily="34" charset="0"/>
              </a:rPr>
              <a:t> структура в </a:t>
            </a:r>
            <a:r>
              <a:rPr lang="en-US" sz="2200" dirty="0">
                <a:latin typeface="Montserrat" pitchFamily="34" charset="0"/>
              </a:rPr>
              <a:t>Firebase</a:t>
            </a:r>
            <a:r>
              <a:rPr lang="ru-RU" sz="2200" dirty="0">
                <a:latin typeface="Montserrat" pitchFamily="34" charset="0"/>
              </a:rPr>
              <a:t> позволяет гибко расширять поля без миграций</a:t>
            </a:r>
            <a:endParaRPr lang="en-US" sz="2200" dirty="0">
              <a:latin typeface="Montserrat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8FDD98F-55F2-4E6B-90A8-0AEAD341BFBB}"/>
              </a:ext>
            </a:extLst>
          </p:cNvPr>
          <p:cNvSpPr/>
          <p:nvPr/>
        </p:nvSpPr>
        <p:spPr>
          <a:xfrm>
            <a:off x="12718473" y="7758545"/>
            <a:ext cx="1823258" cy="399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7D0267F-E75D-41F4-A2A8-72A8734F76E6}"/>
              </a:ext>
            </a:extLst>
          </p:cNvPr>
          <p:cNvPicPr/>
          <p:nvPr/>
        </p:nvPicPr>
        <p:blipFill>
          <a:blip r:embed="rId3"/>
          <a:stretch/>
        </p:blipFill>
        <p:spPr bwMode="auto">
          <a:xfrm>
            <a:off x="8013469" y="1497687"/>
            <a:ext cx="6017664" cy="6169191"/>
          </a:xfrm>
          <a:prstGeom prst="rect">
            <a:avLst/>
          </a:prstGeom>
        </p:spPr>
      </p:pic>
      <p:sp>
        <p:nvSpPr>
          <p:cNvPr id="29" name="Text 1">
            <a:extLst>
              <a:ext uri="{FF2B5EF4-FFF2-40B4-BE49-F238E27FC236}">
                <a16:creationId xmlns:a16="http://schemas.microsoft.com/office/drawing/2014/main" id="{8BA4DD01-8A3B-4EEF-9727-8B7D3E037A93}"/>
              </a:ext>
            </a:extLst>
          </p:cNvPr>
          <p:cNvSpPr/>
          <p:nvPr/>
        </p:nvSpPr>
        <p:spPr>
          <a:xfrm>
            <a:off x="870466" y="1497686"/>
            <a:ext cx="6272187" cy="164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dirty="0">
                <a:latin typeface="Montserrat" pitchFamily="34" charset="0"/>
              </a:rPr>
              <a:t>Для обеспечения целостности и эффективного хранения информации, проект оперирует пятью основными сущностями.</a:t>
            </a:r>
          </a:p>
        </p:txBody>
      </p:sp>
    </p:spTree>
    <p:extLst>
      <p:ext uri="{BB962C8B-B14F-4D97-AF65-F5344CB8AC3E}">
        <p14:creationId xmlns:p14="http://schemas.microsoft.com/office/powerpoint/2010/main" val="187517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3008"/>
            <a:ext cx="7957423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Система Ролей и Прав Доступа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334816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Приложение имеет гибкую систему ролей, которая обеспечивает разграничение доступа к функционалу на основе учетных данных пользователя.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3179564"/>
            <a:ext cx="4196358" cy="680442"/>
          </a:xfrm>
          <a:prstGeom prst="roundRect">
            <a:avLst>
              <a:gd name="adj" fmla="val 480029"/>
            </a:avLst>
          </a:prstGeom>
          <a:solidFill>
            <a:schemeClr val="bg1"/>
          </a:solidFill>
          <a:ln w="22860">
            <a:solidFill>
              <a:srgbClr val="FFE0C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888" y="3349585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086820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Гость (user)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20604" y="4646771"/>
            <a:ext cx="374273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Просмотр списков студентов, посещаемости и успеваемости без возможности редактирования.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179564"/>
            <a:ext cx="4196358" cy="680442"/>
          </a:xfrm>
          <a:prstGeom prst="roundRect">
            <a:avLst>
              <a:gd name="adj" fmla="val 480029"/>
            </a:avLst>
          </a:prstGeom>
          <a:solidFill>
            <a:schemeClr val="bg1"/>
          </a:solidFill>
          <a:ln w="22860">
            <a:solidFill>
              <a:srgbClr val="FFE0C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5060" y="3349585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3776" y="4086820"/>
            <a:ext cx="374273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Преподаватель (teacher)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5388358" y="4706302"/>
            <a:ext cx="374273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Дополнительно к гостю: редактирование посещаемости и управление оценками.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640133" y="3179564"/>
            <a:ext cx="4196358" cy="680442"/>
          </a:xfrm>
          <a:prstGeom prst="roundRect">
            <a:avLst>
              <a:gd name="adj" fmla="val 480029"/>
            </a:avLst>
          </a:prstGeom>
          <a:solidFill>
            <a:schemeClr val="bg1"/>
          </a:solidFill>
          <a:ln w="22860">
            <a:solidFill>
              <a:srgbClr val="FFE0C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8232" y="3349585"/>
            <a:ext cx="340162" cy="3401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66948" y="4086820"/>
            <a:ext cx="370379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Администратор (admin)</a:t>
            </a:r>
            <a:endParaRPr lang="en-US" sz="2550" dirty="0"/>
          </a:p>
        </p:txBody>
      </p:sp>
      <p:sp>
        <p:nvSpPr>
          <p:cNvPr id="15" name="Text 10"/>
          <p:cNvSpPr/>
          <p:nvPr/>
        </p:nvSpPr>
        <p:spPr>
          <a:xfrm>
            <a:off x="9866948" y="4646771"/>
            <a:ext cx="3742730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контроль: все права преподавателя плюс управление студентами, группами и предметами (CRUD операции).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93791" y="6731794"/>
            <a:ext cx="12617410" cy="589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Авторизация пользователя определяет доступные ему функции, обеспечивая безопасность и порядок.</a:t>
            </a:r>
            <a:endParaRPr lang="en-US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8CE2AB7-3FB2-4847-925E-DA58DC13CDC9}"/>
              </a:ext>
            </a:extLst>
          </p:cNvPr>
          <p:cNvSpPr/>
          <p:nvPr/>
        </p:nvSpPr>
        <p:spPr>
          <a:xfrm>
            <a:off x="12718473" y="7758545"/>
            <a:ext cx="1823258" cy="399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48195" y="951905"/>
            <a:ext cx="6754058" cy="548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300"/>
              </a:lnSpc>
              <a:buNone/>
            </a:pPr>
            <a:r>
              <a:rPr lang="en-US" sz="33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Руководство по Запуску Проекта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41747" y="1775103"/>
            <a:ext cx="7860506" cy="476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0"/>
              </a:lnSpc>
              <a:buNone/>
            </a:pPr>
            <a:r>
              <a:rPr lang="en-US" sz="2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успешного запуска приложения следуйте простым шагам, начиная с установки необходимых зависимостей.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1747" y="2458045"/>
            <a:ext cx="183356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1747" y="2756059"/>
            <a:ext cx="3838575" cy="2286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7" name="Text 4"/>
          <p:cNvSpPr/>
          <p:nvPr/>
        </p:nvSpPr>
        <p:spPr>
          <a:xfrm>
            <a:off x="641747" y="2893457"/>
            <a:ext cx="3838575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650"/>
              </a:lnSpc>
              <a:buNone/>
            </a:pPr>
            <a:r>
              <a:rPr lang="en-US" sz="20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Предварительные требования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641747" y="3688794"/>
            <a:ext cx="3838575" cy="476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Убедитесь, что установлены Node.js (рекомендуется v18+) и npm.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663678" y="2458045"/>
            <a:ext cx="183356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663678" y="2756059"/>
            <a:ext cx="3838575" cy="2286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1" name="Text 8"/>
          <p:cNvSpPr/>
          <p:nvPr/>
        </p:nvSpPr>
        <p:spPr>
          <a:xfrm>
            <a:off x="4663678" y="2893457"/>
            <a:ext cx="3201233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Установка зависимостей</a:t>
            </a:r>
            <a:endParaRPr lang="en-US" sz="2050" dirty="0"/>
          </a:p>
        </p:txBody>
      </p:sp>
      <p:sp>
        <p:nvSpPr>
          <p:cNvPr id="12" name="Shape 9"/>
          <p:cNvSpPr/>
          <p:nvPr/>
        </p:nvSpPr>
        <p:spPr>
          <a:xfrm>
            <a:off x="4663678" y="3442335"/>
            <a:ext cx="3838575" cy="513398"/>
          </a:xfrm>
          <a:prstGeom prst="roundRect">
            <a:avLst>
              <a:gd name="adj" fmla="val 15001"/>
            </a:avLst>
          </a:prstGeom>
          <a:solidFill>
            <a:srgbClr val="F2F2E7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2485" y="3442335"/>
            <a:ext cx="3856911" cy="513398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/>
        </p:spPr>
      </p:sp>
      <p:sp>
        <p:nvSpPr>
          <p:cNvPr id="14" name="Text 11"/>
          <p:cNvSpPr/>
          <p:nvPr/>
        </p:nvSpPr>
        <p:spPr>
          <a:xfrm>
            <a:off x="4837867" y="3579852"/>
            <a:ext cx="3490198" cy="23836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663678" y="4161949"/>
            <a:ext cx="3838575" cy="476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Выполните эту команду в корневой папке проекта.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1747" y="4959548"/>
            <a:ext cx="183356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41747" y="5257562"/>
            <a:ext cx="7860506" cy="2286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8" name="Text 15"/>
          <p:cNvSpPr/>
          <p:nvPr/>
        </p:nvSpPr>
        <p:spPr>
          <a:xfrm>
            <a:off x="641747" y="5394960"/>
            <a:ext cx="363045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Запуск development сервера</a:t>
            </a:r>
            <a:endParaRPr lang="en-US" sz="2050" dirty="0"/>
          </a:p>
        </p:txBody>
      </p:sp>
      <p:sp>
        <p:nvSpPr>
          <p:cNvPr id="19" name="Shape 16"/>
          <p:cNvSpPr/>
          <p:nvPr/>
        </p:nvSpPr>
        <p:spPr>
          <a:xfrm>
            <a:off x="641747" y="5943838"/>
            <a:ext cx="7860506" cy="513398"/>
          </a:xfrm>
          <a:prstGeom prst="roundRect">
            <a:avLst>
              <a:gd name="adj" fmla="val 15001"/>
            </a:avLst>
          </a:prstGeom>
          <a:solidFill>
            <a:srgbClr val="F2F2E7"/>
          </a:solidFill>
          <a:ln/>
        </p:spPr>
      </p:sp>
      <p:sp>
        <p:nvSpPr>
          <p:cNvPr id="20" name="Shape 17"/>
          <p:cNvSpPr/>
          <p:nvPr/>
        </p:nvSpPr>
        <p:spPr>
          <a:xfrm>
            <a:off x="632579" y="5943838"/>
            <a:ext cx="7878842" cy="513398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/>
        </p:spPr>
      </p:sp>
      <p:sp>
        <p:nvSpPr>
          <p:cNvPr id="21" name="Text 18"/>
          <p:cNvSpPr/>
          <p:nvPr/>
        </p:nvSpPr>
        <p:spPr>
          <a:xfrm>
            <a:off x="815935" y="6081355"/>
            <a:ext cx="7512129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41747" y="6663452"/>
            <a:ext cx="7860506" cy="476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Приложение будет доступно по адресу: http://localhost:5173/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4034"/>
            <a:ext cx="11926133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Заключение: Будущее Управление Колледжем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975842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Данное веб-приложение — это значительный шаг к созданию более эффективной и прозрачной системы управления образовательным процессом в колледже.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195995"/>
            <a:ext cx="4238863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300"/>
              </a:lnSpc>
              <a:buNone/>
            </a:pPr>
            <a:r>
              <a:rPr lang="en-US" sz="25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Повышенная Эффективность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93790" y="4179808"/>
            <a:ext cx="4238863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2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 ручной работы и минимизация ошибок.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820591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4362" y="4112300"/>
            <a:ext cx="318968" cy="318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97628" y="3407926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Прозрачность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9597628" y="3967877"/>
            <a:ext cx="4238982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Легкий доступ к данным для всех уполномоченных пользователей.</a:t>
            </a:r>
            <a:endParaRPr lang="en-US" sz="2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820591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6713" y="4112300"/>
            <a:ext cx="318968" cy="3189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97628" y="5860494"/>
            <a:ext cx="4170521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Инновационное Решение</a:t>
            </a:r>
            <a:endParaRPr lang="en-US" sz="2550" dirty="0"/>
          </a:p>
        </p:txBody>
      </p:sp>
      <p:sp>
        <p:nvSpPr>
          <p:cNvPr id="13" name="Text 7"/>
          <p:cNvSpPr/>
          <p:nvPr/>
        </p:nvSpPr>
        <p:spPr>
          <a:xfrm>
            <a:off x="9597628" y="6420445"/>
            <a:ext cx="4238982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Современные технологии для лучшего образования.</a:t>
            </a:r>
            <a:endParaRPr lang="en-US" sz="2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820591"/>
            <a:ext cx="4564975" cy="45649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772007" y="586049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300"/>
              </a:lnSpc>
              <a:buNone/>
            </a:pPr>
            <a:r>
              <a:rPr lang="en-US" sz="2550" dirty="0">
                <a:latin typeface="Marcellus" pitchFamily="34" charset="0"/>
                <a:ea typeface="Marcellus" pitchFamily="34" charset="-122"/>
                <a:cs typeface="Marcellus" pitchFamily="34" charset="-120"/>
              </a:rPr>
              <a:t>Масштабируемость</a:t>
            </a:r>
            <a:endParaRPr lang="en-US" sz="2550" dirty="0"/>
          </a:p>
        </p:txBody>
      </p:sp>
      <p:sp>
        <p:nvSpPr>
          <p:cNvPr id="16" name="Text 9"/>
          <p:cNvSpPr/>
          <p:nvPr/>
        </p:nvSpPr>
        <p:spPr>
          <a:xfrm>
            <a:off x="793790" y="6420445"/>
            <a:ext cx="4238863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20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Возможность дальнейшего расширения функционала.</a:t>
            </a:r>
            <a:endParaRPr lang="en-US" sz="2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820591"/>
            <a:ext cx="4564975" cy="4564975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4362" y="5774650"/>
            <a:ext cx="318968" cy="318968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421378B-E969-4946-AB49-4E9A480B69A8}"/>
              </a:ext>
            </a:extLst>
          </p:cNvPr>
          <p:cNvSpPr/>
          <p:nvPr/>
        </p:nvSpPr>
        <p:spPr>
          <a:xfrm>
            <a:off x="12718473" y="7758545"/>
            <a:ext cx="1823258" cy="399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0" name="Image 6" descr="preencoded.png">
            <a:extLst>
              <a:ext uri="{FF2B5EF4-FFF2-40B4-BE49-F238E27FC236}">
                <a16:creationId xmlns:a16="http://schemas.microsoft.com/office/drawing/2014/main" id="{687CCFC4-F14F-471A-8E14-5F4B5593F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6713" y="5774650"/>
            <a:ext cx="318968" cy="3189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721</Words>
  <Application>Microsoft Office PowerPoint</Application>
  <PresentationFormat>Произвольный</PresentationFormat>
  <Paragraphs>110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Montserrat</vt:lpstr>
      <vt:lpstr>Consolas</vt:lpstr>
      <vt:lpstr>Marcellus Light</vt:lpstr>
      <vt:lpstr>Times New Roman</vt:lpstr>
      <vt:lpstr>Marcellus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10</cp:revision>
  <dcterms:created xsi:type="dcterms:W3CDTF">2026-01-06T18:43:06Z</dcterms:created>
  <dcterms:modified xsi:type="dcterms:W3CDTF">2026-06-11T12:42:52Z</dcterms:modified>
</cp:coreProperties>
</file>